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15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915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2097" y="4779645"/>
            <a:ext cx="5647690" cy="1195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69800" y="685800"/>
            <a:ext cx="5555615" cy="142875"/>
          </a:xfrm>
          <a:custGeom>
            <a:avLst/>
            <a:gdLst/>
            <a:ahLst/>
            <a:cxnLst/>
            <a:rect l="l" t="t" r="r" b="b"/>
            <a:pathLst>
              <a:path w="5555615" h="142875">
                <a:moveTo>
                  <a:pt x="5555097" y="142495"/>
                </a:moveTo>
                <a:lnTo>
                  <a:pt x="0" y="142495"/>
                </a:lnTo>
                <a:lnTo>
                  <a:pt x="0" y="0"/>
                </a:lnTo>
                <a:lnTo>
                  <a:pt x="5555097" y="0"/>
                </a:lnTo>
                <a:lnTo>
                  <a:pt x="5555097" y="142495"/>
                </a:lnTo>
                <a:close/>
              </a:path>
            </a:pathLst>
          </a:custGeom>
          <a:solidFill>
            <a:srgbClr val="4553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63220" y="680464"/>
            <a:ext cx="5555615" cy="147955"/>
          </a:xfrm>
          <a:custGeom>
            <a:avLst/>
            <a:gdLst/>
            <a:ahLst/>
            <a:cxnLst/>
            <a:rect l="l" t="t" r="r" b="b"/>
            <a:pathLst>
              <a:path w="5555615" h="147955">
                <a:moveTo>
                  <a:pt x="5555211" y="147830"/>
                </a:moveTo>
                <a:lnTo>
                  <a:pt x="0" y="147830"/>
                </a:lnTo>
                <a:lnTo>
                  <a:pt x="0" y="0"/>
                </a:lnTo>
                <a:lnTo>
                  <a:pt x="5555211" y="0"/>
                </a:lnTo>
                <a:lnTo>
                  <a:pt x="5555211" y="147830"/>
                </a:lnTo>
                <a:close/>
              </a:path>
            </a:pathLst>
          </a:custGeom>
          <a:solidFill>
            <a:srgbClr val="959E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362744" y="685800"/>
            <a:ext cx="5554980" cy="137160"/>
          </a:xfrm>
          <a:custGeom>
            <a:avLst/>
            <a:gdLst/>
            <a:ahLst/>
            <a:cxnLst/>
            <a:rect l="l" t="t" r="r" b="b"/>
            <a:pathLst>
              <a:path w="5554980" h="137159">
                <a:moveTo>
                  <a:pt x="5554979" y="137159"/>
                </a:moveTo>
                <a:lnTo>
                  <a:pt x="0" y="137159"/>
                </a:lnTo>
                <a:lnTo>
                  <a:pt x="0" y="0"/>
                </a:lnTo>
                <a:lnTo>
                  <a:pt x="5554979" y="0"/>
                </a:lnTo>
                <a:lnTo>
                  <a:pt x="5554979" y="137159"/>
                </a:lnTo>
                <a:close/>
              </a:path>
            </a:pathLst>
          </a:custGeom>
          <a:solidFill>
            <a:srgbClr val="1BA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727503" y="9656864"/>
            <a:ext cx="1687994" cy="5476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7993" y="995902"/>
            <a:ext cx="12965430" cy="930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9288" y="2300982"/>
            <a:ext cx="17339310" cy="6577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67" y="1470201"/>
            <a:ext cx="64611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CAPSTONE</a:t>
            </a:r>
            <a:r>
              <a:rPr sz="4800" b="1" spc="-70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1" spc="-10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PROJECT</a:t>
            </a:r>
            <a:endParaRPr sz="4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800" y="4628645"/>
            <a:ext cx="16944975" cy="3171190"/>
          </a:xfrm>
          <a:prstGeom prst="rect">
            <a:avLst/>
          </a:prstGeom>
          <a:solidFill>
            <a:srgbClr val="45535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130"/>
              </a:spcBef>
            </a:pP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3580130">
              <a:lnSpc>
                <a:spcPct val="100000"/>
              </a:lnSpc>
            </a:pPr>
            <a:r>
              <a:rPr sz="3000" b="1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Presented</a:t>
            </a:r>
            <a:r>
              <a:rPr sz="3000" b="1" spc="-50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spc="-25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By</a:t>
            </a:r>
            <a:endParaRPr sz="3000">
              <a:latin typeface="Arial" panose="020B0604020202020204"/>
              <a:cs typeface="Arial" panose="020B0604020202020204"/>
            </a:endParaRPr>
          </a:p>
          <a:p>
            <a:pPr marL="3580130">
              <a:lnSpc>
                <a:spcPct val="100000"/>
              </a:lnSpc>
            </a:pPr>
            <a:r>
              <a:rPr lang="en-US" altLang="" sz="3000" b="1" spc="-30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P.Veera Raghavaiah</a:t>
            </a:r>
            <a:endParaRPr sz="3000">
              <a:latin typeface="Arial" panose="020B0604020202020204"/>
              <a:cs typeface="Arial" panose="020B0604020202020204"/>
            </a:endParaRPr>
          </a:p>
          <a:p>
            <a:pPr marL="3580130">
              <a:lnSpc>
                <a:spcPct val="100000"/>
              </a:lnSpc>
            </a:pPr>
            <a:r>
              <a:rPr sz="3000" b="1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Vellore</a:t>
            </a:r>
            <a:r>
              <a:rPr sz="3000" b="1" spc="-55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institute</a:t>
            </a:r>
            <a:r>
              <a:rPr sz="3000" b="1" spc="-55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3000" b="1" spc="-55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technology</a:t>
            </a:r>
            <a:r>
              <a:rPr sz="3000" b="1" spc="-50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3000" b="1" spc="-55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spc="-25" dirty="0">
                <a:solidFill>
                  <a:srgbClr val="1381AB"/>
                </a:solidFill>
                <a:latin typeface="Arial" panose="020B0604020202020204"/>
                <a:cs typeface="Arial" panose="020B0604020202020204"/>
              </a:rPr>
              <a:t>AP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9142" y="2472626"/>
            <a:ext cx="15881350" cy="1797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75070" marR="5080" indent="-6263005">
              <a:lnSpc>
                <a:spcPct val="116000"/>
              </a:lnSpc>
              <a:spcBef>
                <a:spcPts val="95"/>
              </a:spcBef>
            </a:pPr>
            <a:r>
              <a:rPr sz="5000" spc="-32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Employee</a:t>
            </a:r>
            <a:r>
              <a:rPr sz="5000" spc="-480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33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Salary</a:t>
            </a:r>
            <a:r>
              <a:rPr sz="5000" spc="-47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254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prediction</a:t>
            </a:r>
            <a:r>
              <a:rPr sz="5000" spc="-47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36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using</a:t>
            </a:r>
            <a:r>
              <a:rPr sz="5000" spc="-47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330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Machine</a:t>
            </a:r>
            <a:r>
              <a:rPr sz="5000" spc="-47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5000" spc="-31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learning </a:t>
            </a:r>
            <a:r>
              <a:rPr sz="5000" spc="-32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algorithms</a:t>
            </a:r>
            <a:endParaRPr sz="5000">
              <a:latin typeface="Arial Black" panose="020B0A04020102020204"/>
              <a:cs typeface="Arial Black" panose="020B0A040201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1555046"/>
            <a:ext cx="23666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10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OUTLINE</a:t>
            </a:r>
            <a:endParaRPr sz="4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014" y="3146591"/>
            <a:ext cx="95250" cy="95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78964" y="2848141"/>
            <a:ext cx="5763260" cy="25019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30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Problem</a:t>
            </a:r>
            <a:r>
              <a:rPr sz="3000" b="1" spc="-5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Statement</a:t>
            </a:r>
            <a:endParaRPr sz="30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8000"/>
              </a:lnSpc>
            </a:pPr>
            <a:r>
              <a:rPr sz="30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System</a:t>
            </a:r>
            <a:r>
              <a:rPr sz="3000" b="1" spc="-4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Development</a:t>
            </a:r>
            <a:r>
              <a:rPr sz="3000" b="1" spc="-4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Approach </a:t>
            </a:r>
            <a:r>
              <a:rPr sz="30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Algorithm</a:t>
            </a:r>
            <a:r>
              <a:rPr sz="3000" b="1" spc="-45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3000" b="1" spc="-4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Deployment</a:t>
            </a:r>
            <a:endParaRPr sz="3000">
              <a:latin typeface="Arial" panose="020B0604020202020204"/>
              <a:cs typeface="Arial" panose="020B0604020202020204"/>
            </a:endParaRPr>
          </a:p>
          <a:p>
            <a:pPr marL="12700" marR="3667760">
              <a:lnSpc>
                <a:spcPct val="108000"/>
              </a:lnSpc>
            </a:pPr>
            <a:r>
              <a:rPr sz="3000" b="1" spc="-10" dirty="0">
                <a:solidFill>
                  <a:srgbClr val="404040"/>
                </a:solidFill>
                <a:latin typeface="Arial" panose="020B0604020202020204"/>
                <a:cs typeface="Arial" panose="020B0604020202020204"/>
              </a:rPr>
              <a:t>Result Conclusion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014" y="3641891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014" y="4137191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014" y="4632491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014" y="5127791"/>
            <a:ext cx="95250" cy="952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9087" y="799829"/>
            <a:ext cx="6899275" cy="930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Problem</a:t>
            </a:r>
            <a:r>
              <a:rPr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b="1" spc="-10" dirty="0">
                <a:latin typeface="Arial" panose="020B0604020202020204"/>
                <a:cs typeface="Arial" panose="020B0604020202020204"/>
              </a:rPr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2272223"/>
            <a:ext cx="152400" cy="1523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93108" y="1964876"/>
            <a:ext cx="16302990" cy="769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 marR="356870">
              <a:lnSpc>
                <a:spcPct val="116000"/>
              </a:lnSpc>
              <a:spcBef>
                <a:spcPts val="100"/>
              </a:spcBef>
            </a:pPr>
            <a:r>
              <a:rPr sz="3400" spc="-95" dirty="0">
                <a:latin typeface="Verdana" panose="020B0604030504040204"/>
                <a:cs typeface="Verdana" panose="020B0604030504040204"/>
              </a:rPr>
              <a:t>Organizations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often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0" dirty="0">
                <a:latin typeface="Verdana" panose="020B0604030504040204"/>
                <a:cs typeface="Verdana" panose="020B0604030504040204"/>
              </a:rPr>
              <a:t>struggle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create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fair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competitive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5" dirty="0">
                <a:latin typeface="Verdana" panose="020B0604030504040204"/>
                <a:cs typeface="Verdana" panose="020B0604030504040204"/>
              </a:rPr>
              <a:t>salary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structures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due</a:t>
            </a:r>
            <a:r>
              <a:rPr sz="3400" spc="-30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0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inconsistent</a:t>
            </a:r>
            <a:r>
              <a:rPr sz="3400" spc="-29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compensation</a:t>
            </a:r>
            <a:r>
              <a:rPr sz="3400" spc="-30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practices.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12700" marR="708660">
              <a:lnSpc>
                <a:spcPct val="116000"/>
              </a:lnSpc>
              <a:spcBef>
                <a:spcPts val="2620"/>
              </a:spcBef>
            </a:pPr>
            <a:r>
              <a:rPr sz="3400" spc="-95" dirty="0">
                <a:latin typeface="Verdana" panose="020B0604030504040204"/>
                <a:cs typeface="Verdana" panose="020B0604030504040204"/>
              </a:rPr>
              <a:t>These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inconsistencies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can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result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in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5" dirty="0">
                <a:latin typeface="Verdana" panose="020B0604030504040204"/>
                <a:cs typeface="Verdana" panose="020B0604030504040204"/>
              </a:rPr>
              <a:t>salary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discrepancies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perceptions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30" dirty="0">
                <a:latin typeface="Verdana" panose="020B0604030504040204"/>
                <a:cs typeface="Verdana" panose="020B0604030504040204"/>
              </a:rPr>
              <a:t>of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unfairness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40" dirty="0">
                <a:latin typeface="Verdana" panose="020B0604030504040204"/>
                <a:cs typeface="Verdana" panose="020B0604030504040204"/>
              </a:rPr>
              <a:t>among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employees.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12700" marR="1857375">
              <a:lnSpc>
                <a:spcPct val="116000"/>
              </a:lnSpc>
              <a:spcBef>
                <a:spcPts val="2625"/>
              </a:spcBef>
            </a:pPr>
            <a:r>
              <a:rPr sz="3400" spc="-35" dirty="0">
                <a:latin typeface="Verdana" panose="020B0604030504040204"/>
                <a:cs typeface="Verdana" panose="020B0604030504040204"/>
              </a:rPr>
              <a:t>Unclear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5" dirty="0">
                <a:latin typeface="Verdana" panose="020B0604030504040204"/>
                <a:cs typeface="Verdana" panose="020B0604030504040204"/>
              </a:rPr>
              <a:t>non-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transparent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5" dirty="0">
                <a:latin typeface="Verdana" panose="020B0604030504040204"/>
                <a:cs typeface="Verdana" panose="020B0604030504040204"/>
              </a:rPr>
              <a:t>salary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0" dirty="0">
                <a:latin typeface="Verdana" panose="020B0604030504040204"/>
                <a:cs typeface="Verdana" panose="020B0604030504040204"/>
              </a:rPr>
              <a:t>decisions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can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further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contribute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to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employee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dissatisfaction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reduced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morale.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3400">
              <a:latin typeface="Verdana" panose="020B0604030504040204"/>
              <a:cs typeface="Verdana" panose="020B0604030504040204"/>
            </a:endParaRPr>
          </a:p>
          <a:p>
            <a:pPr marL="12700" marR="1230630">
              <a:lnSpc>
                <a:spcPct val="116000"/>
              </a:lnSpc>
            </a:pPr>
            <a:r>
              <a:rPr sz="3400" spc="-100" dirty="0">
                <a:latin typeface="Verdana" panose="020B0604030504040204"/>
                <a:cs typeface="Verdana" panose="020B0604030504040204"/>
              </a:rPr>
              <a:t>Ultimately,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unresolved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5" dirty="0">
                <a:latin typeface="Verdana" panose="020B0604030504040204"/>
                <a:cs typeface="Verdana" panose="020B0604030504040204"/>
              </a:rPr>
              <a:t>salary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structure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challenges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can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5" dirty="0">
                <a:latin typeface="Verdana" panose="020B0604030504040204"/>
                <a:cs typeface="Verdana" panose="020B0604030504040204"/>
              </a:rPr>
              <a:t>negatively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impact </a:t>
            </a:r>
            <a:r>
              <a:rPr sz="3400" spc="-90" dirty="0">
                <a:latin typeface="Verdana" panose="020B0604030504040204"/>
                <a:cs typeface="Verdana" panose="020B0604030504040204"/>
              </a:rPr>
              <a:t>organizational</a:t>
            </a:r>
            <a:r>
              <a:rPr sz="3400" spc="-30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performance</a:t>
            </a:r>
            <a:r>
              <a:rPr sz="3400" spc="-29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29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reputation.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16000"/>
              </a:lnSpc>
              <a:spcBef>
                <a:spcPts val="3075"/>
              </a:spcBef>
            </a:pPr>
            <a:r>
              <a:rPr sz="3400" spc="-80" dirty="0">
                <a:latin typeface="Verdana" panose="020B0604030504040204"/>
                <a:cs typeface="Verdana" panose="020B0604030504040204"/>
              </a:rPr>
              <a:t>As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70" dirty="0">
                <a:latin typeface="Verdana" panose="020B0604030504040204"/>
                <a:cs typeface="Verdana" panose="020B0604030504040204"/>
              </a:rPr>
              <a:t>a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result,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5" dirty="0">
                <a:latin typeface="Verdana" panose="020B0604030504040204"/>
                <a:cs typeface="Verdana" panose="020B0604030504040204"/>
              </a:rPr>
              <a:t>organizations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face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difficulties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in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attracting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0" dirty="0">
                <a:latin typeface="Verdana" panose="020B0604030504040204"/>
                <a:cs typeface="Verdana" panose="020B0604030504040204"/>
              </a:rPr>
              <a:t>retaining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top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talent, </a:t>
            </a:r>
            <a:r>
              <a:rPr sz="3400" spc="-75" dirty="0">
                <a:latin typeface="Verdana" panose="020B0604030504040204"/>
                <a:cs typeface="Verdana" panose="020B0604030504040204"/>
              </a:rPr>
              <a:t>leading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recruitment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retention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issues.</a:t>
            </a:r>
            <a:endParaRPr sz="34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264" y="3805333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262" y="5338445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262" y="7147203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262" y="8738019"/>
            <a:ext cx="152400" cy="1523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9087" y="1209760"/>
            <a:ext cx="6647815" cy="930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114675" algn="l"/>
              </a:tabLst>
            </a:pPr>
            <a:r>
              <a:rPr b="1" spc="-10" dirty="0">
                <a:latin typeface="Arial" panose="020B0604020202020204"/>
                <a:cs typeface="Arial" panose="020B0604020202020204"/>
              </a:rPr>
              <a:t>System</a:t>
            </a:r>
            <a:r>
              <a:rPr b="1" dirty="0">
                <a:latin typeface="Arial" panose="020B0604020202020204"/>
                <a:cs typeface="Arial" panose="020B0604020202020204"/>
              </a:rPr>
              <a:t>	</a:t>
            </a:r>
            <a:r>
              <a:rPr b="1" spc="-10" dirty="0">
                <a:latin typeface="Arial" panose="020B0604020202020204"/>
                <a:cs typeface="Arial" panose="020B0604020202020204"/>
              </a:rPr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8989" y="5842862"/>
            <a:ext cx="123825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8989" y="6538186"/>
            <a:ext cx="123825" cy="1238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81042" rIns="0" bIns="0" rtlCol="0">
            <a:spAutoFit/>
          </a:bodyPr>
          <a:lstStyle/>
          <a:p>
            <a:pPr marL="681990" marR="5080">
              <a:lnSpc>
                <a:spcPts val="5470"/>
              </a:lnSpc>
              <a:spcBef>
                <a:spcPts val="135"/>
              </a:spcBef>
            </a:pPr>
            <a:r>
              <a:rPr sz="4400" spc="-325" dirty="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sz="4400" spc="1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80" dirty="0">
                <a:solidFill>
                  <a:srgbClr val="0E0E0E"/>
                </a:solidFill>
                <a:latin typeface="Arial MT"/>
                <a:cs typeface="Arial MT"/>
              </a:rPr>
              <a:t>"System</a:t>
            </a:r>
            <a:r>
              <a:rPr sz="4400" spc="-2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155" dirty="0">
                <a:solidFill>
                  <a:srgbClr val="0E0E0E"/>
                </a:solidFill>
                <a:latin typeface="Arial MT"/>
                <a:cs typeface="Arial MT"/>
              </a:rPr>
              <a:t>Approach"</a:t>
            </a:r>
            <a:r>
              <a:rPr sz="4400" spc="-15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55" dirty="0">
                <a:solidFill>
                  <a:srgbClr val="0E0E0E"/>
                </a:solidFill>
                <a:latin typeface="Arial MT"/>
                <a:cs typeface="Arial MT"/>
              </a:rPr>
              <a:t>section</a:t>
            </a:r>
            <a:r>
              <a:rPr sz="4400" spc="-25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45" dirty="0">
                <a:solidFill>
                  <a:srgbClr val="0E0E0E"/>
                </a:solidFill>
                <a:latin typeface="Arial MT"/>
                <a:cs typeface="Arial MT"/>
              </a:rPr>
              <a:t>outlines</a:t>
            </a:r>
            <a:r>
              <a:rPr sz="4400" spc="-18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sz="4400" spc="-15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120" dirty="0">
                <a:solidFill>
                  <a:srgbClr val="0E0E0E"/>
                </a:solidFill>
                <a:latin typeface="Arial MT"/>
                <a:cs typeface="Arial MT"/>
              </a:rPr>
              <a:t>overall</a:t>
            </a:r>
            <a:r>
              <a:rPr sz="4400" spc="-15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114" dirty="0">
                <a:solidFill>
                  <a:srgbClr val="0E0E0E"/>
                </a:solidFill>
                <a:latin typeface="Arial MT"/>
                <a:cs typeface="Arial MT"/>
              </a:rPr>
              <a:t>strategy</a:t>
            </a:r>
            <a:r>
              <a:rPr sz="4400" spc="-16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25" dirty="0">
                <a:solidFill>
                  <a:srgbClr val="0E0E0E"/>
                </a:solidFill>
                <a:latin typeface="Arial MT"/>
                <a:cs typeface="Arial MT"/>
              </a:rPr>
              <a:t>and </a:t>
            </a:r>
            <a:r>
              <a:rPr sz="4400" spc="-180" dirty="0">
                <a:solidFill>
                  <a:srgbClr val="0E0E0E"/>
                </a:solidFill>
                <a:latin typeface="Arial MT"/>
                <a:cs typeface="Arial MT"/>
              </a:rPr>
              <a:t>methodology</a:t>
            </a:r>
            <a:r>
              <a:rPr sz="4400" spc="-1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0E0E0E"/>
                </a:solidFill>
                <a:latin typeface="Arial MT"/>
                <a:cs typeface="Arial MT"/>
              </a:rPr>
              <a:t>for</a:t>
            </a:r>
            <a:r>
              <a:rPr sz="4400" spc="-24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175" dirty="0">
                <a:solidFill>
                  <a:srgbClr val="0E0E0E"/>
                </a:solidFill>
                <a:latin typeface="Arial MT"/>
                <a:cs typeface="Arial MT"/>
              </a:rPr>
              <a:t>developing</a:t>
            </a:r>
            <a:r>
              <a:rPr sz="4400" spc="-1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125" dirty="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sz="4400" spc="-17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110" dirty="0">
                <a:solidFill>
                  <a:srgbClr val="0E0E0E"/>
                </a:solidFill>
                <a:latin typeface="Arial MT"/>
                <a:cs typeface="Arial MT"/>
              </a:rPr>
              <a:t>implementing.</a:t>
            </a:r>
            <a:r>
              <a:rPr sz="4400" spc="-16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40" dirty="0">
                <a:solidFill>
                  <a:srgbClr val="0E0E0E"/>
                </a:solidFill>
                <a:latin typeface="Arial MT"/>
                <a:cs typeface="Arial MT"/>
              </a:rPr>
              <a:t>Here's</a:t>
            </a:r>
            <a:r>
              <a:rPr sz="4400" spc="-17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0E0E0E"/>
                </a:solidFill>
                <a:latin typeface="Arial MT"/>
                <a:cs typeface="Arial MT"/>
              </a:rPr>
              <a:t>a</a:t>
            </a:r>
            <a:r>
              <a:rPr sz="4400" spc="-16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95" dirty="0">
                <a:solidFill>
                  <a:srgbClr val="0E0E0E"/>
                </a:solidFill>
                <a:latin typeface="Arial MT"/>
                <a:cs typeface="Arial MT"/>
              </a:rPr>
              <a:t>suggested </a:t>
            </a:r>
            <a:r>
              <a:rPr sz="4400" spc="-70" dirty="0">
                <a:solidFill>
                  <a:srgbClr val="0E0E0E"/>
                </a:solidFill>
                <a:latin typeface="Arial MT"/>
                <a:cs typeface="Arial MT"/>
              </a:rPr>
              <a:t>structure</a:t>
            </a:r>
            <a:r>
              <a:rPr sz="4400" spc="-15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0E0E0E"/>
                </a:solidFill>
                <a:latin typeface="Arial MT"/>
                <a:cs typeface="Arial MT"/>
              </a:rPr>
              <a:t>for</a:t>
            </a:r>
            <a:r>
              <a:rPr sz="4400" spc="-15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0E0E0E"/>
                </a:solidFill>
                <a:latin typeface="Arial MT"/>
                <a:cs typeface="Arial MT"/>
              </a:rPr>
              <a:t>this</a:t>
            </a:r>
            <a:r>
              <a:rPr sz="4400" spc="-15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10" dirty="0">
                <a:solidFill>
                  <a:srgbClr val="0E0E0E"/>
                </a:solidFill>
                <a:latin typeface="Arial MT"/>
                <a:cs typeface="Arial MT"/>
              </a:rPr>
              <a:t>section:</a:t>
            </a:r>
            <a:endParaRPr sz="4400">
              <a:latin typeface="Arial MT"/>
              <a:cs typeface="Arial MT"/>
            </a:endParaRPr>
          </a:p>
          <a:p>
            <a:pPr marL="1441450">
              <a:lnSpc>
                <a:spcPts val="5270"/>
              </a:lnSpc>
            </a:pPr>
            <a:r>
              <a:rPr sz="4400" spc="-160" dirty="0">
                <a:solidFill>
                  <a:srgbClr val="0E0E0E"/>
                </a:solidFill>
                <a:latin typeface="Arial MT"/>
                <a:cs typeface="Arial MT"/>
              </a:rPr>
              <a:t>System</a:t>
            </a:r>
            <a:r>
              <a:rPr sz="4400" spc="-1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40" dirty="0">
                <a:solidFill>
                  <a:srgbClr val="0E0E0E"/>
                </a:solidFill>
                <a:latin typeface="Arial MT"/>
                <a:cs typeface="Arial MT"/>
              </a:rPr>
              <a:t>requirements</a:t>
            </a:r>
            <a:endParaRPr sz="4400">
              <a:latin typeface="Arial MT"/>
              <a:cs typeface="Arial MT"/>
            </a:endParaRPr>
          </a:p>
          <a:p>
            <a:pPr marL="1441450">
              <a:lnSpc>
                <a:spcPct val="100000"/>
              </a:lnSpc>
              <a:spcBef>
                <a:spcPts val="195"/>
              </a:spcBef>
            </a:pPr>
            <a:r>
              <a:rPr sz="4400" spc="-185" dirty="0">
                <a:solidFill>
                  <a:srgbClr val="0E0E0E"/>
                </a:solidFill>
                <a:latin typeface="Arial MT"/>
                <a:cs typeface="Arial MT"/>
              </a:rPr>
              <a:t>Library</a:t>
            </a:r>
            <a:r>
              <a:rPr sz="4400" spc="-1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130" dirty="0">
                <a:solidFill>
                  <a:srgbClr val="0E0E0E"/>
                </a:solidFill>
                <a:latin typeface="Arial MT"/>
                <a:cs typeface="Arial MT"/>
              </a:rPr>
              <a:t>required</a:t>
            </a:r>
            <a:r>
              <a:rPr sz="4400" spc="-17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0E0E0E"/>
                </a:solidFill>
                <a:latin typeface="Arial MT"/>
                <a:cs typeface="Arial MT"/>
              </a:rPr>
              <a:t>to</a:t>
            </a:r>
            <a:r>
              <a:rPr sz="4400" spc="-15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60" dirty="0">
                <a:solidFill>
                  <a:srgbClr val="0E0E0E"/>
                </a:solidFill>
                <a:latin typeface="Arial MT"/>
                <a:cs typeface="Arial MT"/>
              </a:rPr>
              <a:t>build</a:t>
            </a:r>
            <a:r>
              <a:rPr sz="4400" spc="-14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dirty="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sz="4400" spc="-14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400" spc="-10" dirty="0">
                <a:solidFill>
                  <a:srgbClr val="0E0E0E"/>
                </a:solidFill>
                <a:latin typeface="Arial MT"/>
                <a:cs typeface="Arial MT"/>
              </a:rPr>
              <a:t>model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40"/>
              </a:spcBef>
            </a:pPr>
            <a:r>
              <a:rPr spc="-440" dirty="0"/>
              <a:t>System</a:t>
            </a:r>
            <a:r>
              <a:rPr spc="-545" dirty="0"/>
              <a:t> </a:t>
            </a:r>
            <a:r>
              <a:rPr spc="-340" dirty="0"/>
              <a:t>requirements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275" y="3240488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275" y="3840563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275" y="4440638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275" y="5040713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1882" y="7076959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1882" y="7677034"/>
            <a:ext cx="152400" cy="152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57100" y="2333066"/>
            <a:ext cx="16415385" cy="566229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400" spc="-265" dirty="0">
                <a:latin typeface="Arial Black" panose="020B0A04020102020204"/>
                <a:cs typeface="Arial Black" panose="020B0A04020102020204"/>
              </a:rPr>
              <a:t>Hardware</a:t>
            </a:r>
            <a:r>
              <a:rPr sz="3400" spc="-30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140" dirty="0">
                <a:latin typeface="Arial Black" panose="020B0A04020102020204"/>
                <a:cs typeface="Arial Black" panose="020B0A04020102020204"/>
              </a:rPr>
              <a:t>Requirements</a:t>
            </a:r>
            <a:endParaRPr sz="3400">
              <a:latin typeface="Arial Black" panose="020B0A04020102020204"/>
              <a:cs typeface="Arial Black" panose="020B0A04020102020204"/>
            </a:endParaRPr>
          </a:p>
          <a:p>
            <a:pPr marL="746125" marR="5080">
              <a:lnSpc>
                <a:spcPct val="116000"/>
              </a:lnSpc>
            </a:pPr>
            <a:r>
              <a:rPr sz="3400" spc="-95" dirty="0">
                <a:latin typeface="Verdana" panose="020B0604030504040204"/>
                <a:cs typeface="Verdana" panose="020B0604030504040204"/>
              </a:rPr>
              <a:t>Processor: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0" dirty="0">
                <a:latin typeface="Verdana" panose="020B0604030504040204"/>
                <a:cs typeface="Verdana" panose="020B0604030504040204"/>
              </a:rPr>
              <a:t>Intel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Core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25" dirty="0">
                <a:latin typeface="Verdana" panose="020B0604030504040204"/>
                <a:cs typeface="Verdana" panose="020B0604030504040204"/>
              </a:rPr>
              <a:t>i3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above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35" dirty="0">
                <a:latin typeface="Verdana" panose="020B0604030504040204"/>
                <a:cs typeface="Verdana" panose="020B0604030504040204"/>
              </a:rPr>
              <a:t>(recommended: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4" dirty="0">
                <a:latin typeface="Verdana" panose="020B0604030504040204"/>
                <a:cs typeface="Verdana" panose="020B0604030504040204"/>
              </a:rPr>
              <a:t>i5/i7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for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faster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processing) </a:t>
            </a:r>
            <a:r>
              <a:rPr sz="3400" spc="-170" dirty="0">
                <a:latin typeface="Verdana" panose="020B0604030504040204"/>
                <a:cs typeface="Verdana" panose="020B0604030504040204"/>
              </a:rPr>
              <a:t>RAM: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Minimum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0" dirty="0">
                <a:latin typeface="Verdana" panose="020B0604030504040204"/>
                <a:cs typeface="Verdana" panose="020B0604030504040204"/>
              </a:rPr>
              <a:t>4GB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35" dirty="0">
                <a:latin typeface="Verdana" panose="020B0604030504040204"/>
                <a:cs typeface="Verdana" panose="020B0604030504040204"/>
              </a:rPr>
              <a:t>(recommended: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0" dirty="0">
                <a:latin typeface="Verdana" panose="020B0604030504040204"/>
                <a:cs typeface="Verdana" panose="020B0604030504040204"/>
              </a:rPr>
              <a:t>8GB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higher)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746125" marR="12065">
              <a:lnSpc>
                <a:spcPct val="116000"/>
              </a:lnSpc>
            </a:pPr>
            <a:r>
              <a:rPr sz="3400" spc="-195" dirty="0">
                <a:latin typeface="Verdana" panose="020B0604030504040204"/>
                <a:cs typeface="Verdana" panose="020B0604030504040204"/>
              </a:rPr>
              <a:t>Storage: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At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least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75" dirty="0">
                <a:latin typeface="Verdana" panose="020B0604030504040204"/>
                <a:cs typeface="Verdana" panose="020B0604030504040204"/>
              </a:rPr>
              <a:t>1GB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free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5" dirty="0">
                <a:latin typeface="Verdana" panose="020B0604030504040204"/>
                <a:cs typeface="Verdana" panose="020B0604030504040204"/>
              </a:rPr>
              <a:t>disk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space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for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5" dirty="0">
                <a:latin typeface="Verdana" panose="020B0604030504040204"/>
                <a:cs typeface="Verdana" panose="020B0604030504040204"/>
              </a:rPr>
              <a:t>datasets,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0" dirty="0">
                <a:latin typeface="Verdana" panose="020B0604030504040204"/>
                <a:cs typeface="Verdana" panose="020B0604030504040204"/>
              </a:rPr>
              <a:t>libraries,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project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files </a:t>
            </a:r>
            <a:r>
              <a:rPr sz="3400" spc="-75" dirty="0">
                <a:latin typeface="Verdana" panose="020B0604030504040204"/>
                <a:cs typeface="Verdana" panose="020B0604030504040204"/>
              </a:rPr>
              <a:t>Operating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10" dirty="0">
                <a:latin typeface="Verdana" panose="020B0604030504040204"/>
                <a:cs typeface="Verdana" panose="020B0604030504040204"/>
              </a:rPr>
              <a:t>System: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5" dirty="0">
                <a:latin typeface="Verdana" panose="020B0604030504040204"/>
                <a:cs typeface="Verdana" panose="020B0604030504040204"/>
              </a:rPr>
              <a:t>Windows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75" dirty="0">
                <a:latin typeface="Verdana" panose="020B0604030504040204"/>
                <a:cs typeface="Verdana" panose="020B0604030504040204"/>
              </a:rPr>
              <a:t>10/11,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65" dirty="0">
                <a:latin typeface="Verdana" panose="020B0604030504040204"/>
                <a:cs typeface="Verdana" panose="020B0604030504040204"/>
              </a:rPr>
              <a:t>macOS,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20" dirty="0">
                <a:latin typeface="Verdana" panose="020B0604030504040204"/>
                <a:cs typeface="Verdana" panose="020B0604030504040204"/>
              </a:rPr>
              <a:t>any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40" dirty="0">
                <a:latin typeface="Verdana" panose="020B0604030504040204"/>
                <a:cs typeface="Verdana" panose="020B0604030504040204"/>
              </a:rPr>
              <a:t>major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5" dirty="0">
                <a:latin typeface="Verdana" panose="020B0604030504040204"/>
                <a:cs typeface="Verdana" panose="020B0604030504040204"/>
              </a:rPr>
              <a:t>Linux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distribution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00">
              <a:latin typeface="Verdana" panose="020B0604030504040204"/>
              <a:cs typeface="Verdana" panose="020B0604030504040204"/>
            </a:endParaRPr>
          </a:p>
          <a:p>
            <a:pPr marL="161925">
              <a:lnSpc>
                <a:spcPct val="100000"/>
              </a:lnSpc>
            </a:pPr>
            <a:r>
              <a:rPr sz="3700" spc="-260" dirty="0">
                <a:latin typeface="Arial Black" panose="020B0A04020102020204"/>
                <a:cs typeface="Arial Black" panose="020B0A04020102020204"/>
              </a:rPr>
              <a:t>Software</a:t>
            </a:r>
            <a:r>
              <a:rPr sz="3700" spc="-35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700" spc="-150" dirty="0">
                <a:latin typeface="Arial Black" panose="020B0A04020102020204"/>
                <a:cs typeface="Arial Black" panose="020B0A04020102020204"/>
              </a:rPr>
              <a:t>Requirements</a:t>
            </a:r>
            <a:endParaRPr sz="3700">
              <a:latin typeface="Arial Black" panose="020B0A04020102020204"/>
              <a:cs typeface="Arial Black" panose="020B0A04020102020204"/>
            </a:endParaRPr>
          </a:p>
          <a:p>
            <a:pPr marL="1167130" marR="1337310">
              <a:lnSpc>
                <a:spcPct val="116000"/>
              </a:lnSpc>
              <a:spcBef>
                <a:spcPts val="2685"/>
              </a:spcBef>
            </a:pPr>
            <a:r>
              <a:rPr sz="3400" spc="-145" dirty="0">
                <a:latin typeface="Verdana" panose="020B0604030504040204"/>
                <a:cs typeface="Verdana" panose="020B0604030504040204"/>
              </a:rPr>
              <a:t>Browser: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25" dirty="0">
                <a:latin typeface="Verdana" panose="020B0604030504040204"/>
                <a:cs typeface="Verdana" panose="020B0604030504040204"/>
              </a:rPr>
              <a:t>Chrome,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4" dirty="0">
                <a:latin typeface="Verdana" panose="020B0604030504040204"/>
                <a:cs typeface="Verdana" panose="020B0604030504040204"/>
              </a:rPr>
              <a:t>Firefox,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75" dirty="0">
                <a:latin typeface="Verdana" panose="020B0604030504040204"/>
                <a:cs typeface="Verdana" panose="020B0604030504040204"/>
              </a:rPr>
              <a:t>Edge,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0" dirty="0">
                <a:latin typeface="Verdana" panose="020B0604030504040204"/>
                <a:cs typeface="Verdana" panose="020B0604030504040204"/>
              </a:rPr>
              <a:t>Safari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run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Jupyter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Notebooks </a:t>
            </a:r>
            <a:r>
              <a:rPr sz="3400" spc="-130" dirty="0">
                <a:latin typeface="Verdana" panose="020B0604030504040204"/>
                <a:cs typeface="Verdana" panose="020B0604030504040204"/>
              </a:rPr>
              <a:t>Package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65" dirty="0">
                <a:latin typeface="Verdana" panose="020B0604030504040204"/>
                <a:cs typeface="Verdana" panose="020B0604030504040204"/>
              </a:rPr>
              <a:t>Manager: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pip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conda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0" dirty="0">
                <a:latin typeface="Verdana" panose="020B0604030504040204"/>
                <a:cs typeface="Verdana" panose="020B0604030504040204"/>
              </a:rPr>
              <a:t>(for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Python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library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installation)</a:t>
            </a:r>
            <a:endParaRPr sz="34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3812" y="2522731"/>
            <a:ext cx="2085974" cy="6572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12719" y="3778863"/>
            <a:ext cx="1714499" cy="17335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21074" y="6261591"/>
            <a:ext cx="2485415" cy="19082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75" dirty="0"/>
              <a:t>Library</a:t>
            </a:r>
            <a:r>
              <a:rPr spc="-560" dirty="0"/>
              <a:t> </a:t>
            </a:r>
            <a:r>
              <a:rPr spc="-265" dirty="0"/>
              <a:t>required</a:t>
            </a:r>
            <a:r>
              <a:rPr spc="-560" dirty="0"/>
              <a:t> </a:t>
            </a:r>
            <a:r>
              <a:rPr spc="-210" dirty="0"/>
              <a:t>to</a:t>
            </a:r>
            <a:r>
              <a:rPr spc="-560" dirty="0"/>
              <a:t> </a:t>
            </a:r>
            <a:r>
              <a:rPr spc="-190" dirty="0"/>
              <a:t>build</a:t>
            </a:r>
            <a:r>
              <a:rPr spc="-555" dirty="0"/>
              <a:t> </a:t>
            </a:r>
            <a:r>
              <a:rPr spc="-270" dirty="0"/>
              <a:t>the</a:t>
            </a:r>
            <a:r>
              <a:rPr spc="-560" dirty="0"/>
              <a:t> </a:t>
            </a:r>
            <a:r>
              <a:rPr spc="-290" dirty="0"/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7418" y="2177803"/>
            <a:ext cx="10718165" cy="579755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3000" spc="-105" dirty="0">
                <a:latin typeface="Arial Black" panose="020B0A04020102020204"/>
                <a:cs typeface="Arial Black" panose="020B0A04020102020204"/>
              </a:rPr>
              <a:t>PANDAS:</a:t>
            </a:r>
            <a:endParaRPr sz="3000">
              <a:latin typeface="Arial Black" panose="020B0A04020102020204"/>
              <a:cs typeface="Arial Black" panose="020B0A04020102020204"/>
            </a:endParaRPr>
          </a:p>
          <a:p>
            <a:pPr marL="1130935">
              <a:lnSpc>
                <a:spcPct val="100000"/>
              </a:lnSpc>
              <a:spcBef>
                <a:spcPts val="1410"/>
              </a:spcBef>
            </a:pPr>
            <a:r>
              <a:rPr sz="3100" spc="-70" dirty="0">
                <a:latin typeface="Verdana" panose="020B0604030504040204"/>
                <a:cs typeface="Verdana" panose="020B0604030504040204"/>
              </a:rPr>
              <a:t>Pandas</a:t>
            </a:r>
            <a:r>
              <a:rPr sz="31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100" spc="-60" dirty="0">
                <a:latin typeface="Verdana" panose="020B0604030504040204"/>
                <a:cs typeface="Verdana" panose="020B0604030504040204"/>
              </a:rPr>
              <a:t>is</a:t>
            </a:r>
            <a:r>
              <a:rPr sz="31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100" spc="-155" dirty="0">
                <a:latin typeface="Verdana" panose="020B0604030504040204"/>
                <a:cs typeface="Verdana" panose="020B0604030504040204"/>
              </a:rPr>
              <a:t>a</a:t>
            </a:r>
            <a:r>
              <a:rPr sz="3100" spc="-300" dirty="0">
                <a:latin typeface="Verdana" panose="020B0604030504040204"/>
                <a:cs typeface="Verdana" panose="020B0604030504040204"/>
              </a:rPr>
              <a:t> </a:t>
            </a:r>
            <a:r>
              <a:rPr sz="3100" spc="-10" dirty="0">
                <a:latin typeface="Verdana" panose="020B0604030504040204"/>
                <a:cs typeface="Verdana" panose="020B0604030504040204"/>
              </a:rPr>
              <a:t>Python</a:t>
            </a:r>
            <a:r>
              <a:rPr sz="31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100" spc="-50" dirty="0">
                <a:latin typeface="Verdana" panose="020B0604030504040204"/>
                <a:cs typeface="Verdana" panose="020B0604030504040204"/>
              </a:rPr>
              <a:t>library</a:t>
            </a:r>
            <a:r>
              <a:rPr sz="31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100" dirty="0">
                <a:latin typeface="Verdana" panose="020B0604030504040204"/>
                <a:cs typeface="Verdana" panose="020B0604030504040204"/>
              </a:rPr>
              <a:t>for</a:t>
            </a:r>
            <a:r>
              <a:rPr sz="3100" spc="-300" dirty="0">
                <a:latin typeface="Verdana" panose="020B0604030504040204"/>
                <a:cs typeface="Verdana" panose="020B0604030504040204"/>
              </a:rPr>
              <a:t> </a:t>
            </a:r>
            <a:r>
              <a:rPr sz="3100" spc="-70" dirty="0">
                <a:latin typeface="Verdana" panose="020B0604030504040204"/>
                <a:cs typeface="Verdana" panose="020B0604030504040204"/>
              </a:rPr>
              <a:t>data</a:t>
            </a:r>
            <a:r>
              <a:rPr sz="31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100" spc="-10" dirty="0">
                <a:latin typeface="Verdana" panose="020B0604030504040204"/>
                <a:cs typeface="Verdana" panose="020B0604030504040204"/>
              </a:rPr>
              <a:t>evaluation</a:t>
            </a:r>
            <a:endParaRPr sz="3100">
              <a:latin typeface="Verdana" panose="020B0604030504040204"/>
              <a:cs typeface="Verdana" panose="020B0604030504040204"/>
            </a:endParaRPr>
          </a:p>
          <a:p>
            <a:pPr marL="133350">
              <a:lnSpc>
                <a:spcPct val="100000"/>
              </a:lnSpc>
              <a:spcBef>
                <a:spcPts val="3460"/>
              </a:spcBef>
            </a:pPr>
            <a:r>
              <a:rPr sz="3100" spc="-130" dirty="0">
                <a:latin typeface="Arial Black" panose="020B0A04020102020204"/>
                <a:cs typeface="Arial Black" panose="020B0A04020102020204"/>
              </a:rPr>
              <a:t>Matplotlib</a:t>
            </a:r>
            <a:r>
              <a:rPr sz="3100" spc="-21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100" spc="-50" dirty="0">
                <a:latin typeface="Arial Black" panose="020B0A04020102020204"/>
                <a:cs typeface="Arial Black" panose="020B0A04020102020204"/>
              </a:rPr>
              <a:t>:</a:t>
            </a:r>
            <a:endParaRPr sz="3100">
              <a:latin typeface="Arial Black" panose="020B0A04020102020204"/>
              <a:cs typeface="Arial Black" panose="020B0A04020102020204"/>
            </a:endParaRPr>
          </a:p>
          <a:p>
            <a:pPr marL="852805">
              <a:lnSpc>
                <a:spcPct val="100000"/>
              </a:lnSpc>
              <a:spcBef>
                <a:spcPts val="2305"/>
              </a:spcBef>
            </a:pPr>
            <a:r>
              <a:rPr sz="3000" dirty="0">
                <a:latin typeface="Verdana" panose="020B0604030504040204"/>
                <a:cs typeface="Verdana" panose="020B0604030504040204"/>
              </a:rPr>
              <a:t>Matplotlib</a:t>
            </a:r>
            <a:r>
              <a:rPr sz="30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000" spc="-55" dirty="0">
                <a:latin typeface="Verdana" panose="020B0604030504040204"/>
                <a:cs typeface="Verdana" panose="020B0604030504040204"/>
              </a:rPr>
              <a:t>is</a:t>
            </a:r>
            <a:r>
              <a:rPr sz="30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000" spc="-150" dirty="0">
                <a:latin typeface="Verdana" panose="020B0604030504040204"/>
                <a:cs typeface="Verdana" panose="020B0604030504040204"/>
              </a:rPr>
              <a:t>a</a:t>
            </a:r>
            <a:r>
              <a:rPr sz="30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000" spc="-40" dirty="0">
                <a:latin typeface="Verdana" panose="020B0604030504040204"/>
                <a:cs typeface="Verdana" panose="020B0604030504040204"/>
              </a:rPr>
              <a:t>widely</a:t>
            </a:r>
            <a:r>
              <a:rPr sz="30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000" dirty="0">
                <a:latin typeface="Verdana" panose="020B0604030504040204"/>
                <a:cs typeface="Verdana" panose="020B0604030504040204"/>
              </a:rPr>
              <a:t>used</a:t>
            </a:r>
            <a:r>
              <a:rPr sz="3000" spc="200" dirty="0">
                <a:latin typeface="Verdana" panose="020B0604030504040204"/>
                <a:cs typeface="Verdana" panose="020B0604030504040204"/>
              </a:rPr>
              <a:t> </a:t>
            </a:r>
            <a:r>
              <a:rPr sz="3000" dirty="0">
                <a:latin typeface="Verdana" panose="020B0604030504040204"/>
                <a:cs typeface="Verdana" panose="020B0604030504040204"/>
              </a:rPr>
              <a:t>for</a:t>
            </a:r>
            <a:r>
              <a:rPr sz="30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000" spc="-10" dirty="0">
                <a:latin typeface="Verdana" panose="020B0604030504040204"/>
                <a:cs typeface="Verdana" panose="020B0604030504040204"/>
              </a:rPr>
              <a:t>creating</a:t>
            </a:r>
            <a:r>
              <a:rPr sz="3000" spc="355" dirty="0">
                <a:latin typeface="Verdana" panose="020B0604030504040204"/>
                <a:cs typeface="Verdana" panose="020B0604030504040204"/>
              </a:rPr>
              <a:t> </a:t>
            </a:r>
            <a:r>
              <a:rPr sz="3000" spc="-25" dirty="0">
                <a:latin typeface="Verdana" panose="020B0604030504040204"/>
                <a:cs typeface="Verdana" panose="020B0604030504040204"/>
              </a:rPr>
              <a:t>visualizations</a:t>
            </a:r>
            <a:endParaRPr sz="3000">
              <a:latin typeface="Verdana" panose="020B0604030504040204"/>
              <a:cs typeface="Verdana" panose="020B0604030504040204"/>
            </a:endParaRPr>
          </a:p>
          <a:p>
            <a:pPr>
              <a:lnSpc>
                <a:spcPct val="100000"/>
              </a:lnSpc>
              <a:spcBef>
                <a:spcPts val="3195"/>
              </a:spcBef>
            </a:pPr>
            <a:endParaRPr sz="3000">
              <a:latin typeface="Verdana" panose="020B0604030504040204"/>
              <a:cs typeface="Verdana" panose="020B0604030504040204"/>
            </a:endParaRPr>
          </a:p>
          <a:p>
            <a:pPr marL="129540">
              <a:lnSpc>
                <a:spcPct val="100000"/>
              </a:lnSpc>
            </a:pPr>
            <a:r>
              <a:rPr sz="3200" spc="-220" dirty="0">
                <a:latin typeface="Arial Black" panose="020B0A04020102020204"/>
                <a:cs typeface="Arial Black" panose="020B0A04020102020204"/>
              </a:rPr>
              <a:t>Scikit-</a:t>
            </a:r>
            <a:r>
              <a:rPr sz="3200" spc="-10" dirty="0">
                <a:latin typeface="Arial Black" panose="020B0A04020102020204"/>
                <a:cs typeface="Arial Black" panose="020B0A04020102020204"/>
              </a:rPr>
              <a:t>learn:</a:t>
            </a:r>
            <a:endParaRPr sz="3200">
              <a:latin typeface="Arial Black" panose="020B0A04020102020204"/>
              <a:cs typeface="Arial Black" panose="020B0A04020102020204"/>
            </a:endParaRPr>
          </a:p>
          <a:p>
            <a:pPr marL="1074420" marR="5080" indent="-106045">
              <a:lnSpc>
                <a:spcPct val="116000"/>
              </a:lnSpc>
              <a:spcBef>
                <a:spcPts val="2140"/>
              </a:spcBef>
            </a:pPr>
            <a:r>
              <a:rPr sz="3400" spc="-110" dirty="0">
                <a:latin typeface="Verdana" panose="020B0604030504040204"/>
                <a:cs typeface="Verdana" panose="020B0604030504040204"/>
              </a:rPr>
              <a:t>generate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complex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25" dirty="0">
                <a:latin typeface="Verdana" panose="020B0604030504040204"/>
                <a:cs typeface="Verdana" panose="020B0604030504040204"/>
              </a:rPr>
              <a:t>diagrams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0" dirty="0">
                <a:latin typeface="Verdana" panose="020B0604030504040204"/>
                <a:cs typeface="Verdana" panose="020B0604030504040204"/>
              </a:rPr>
              <a:t>flowcharts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55" dirty="0">
                <a:latin typeface="Verdana" panose="020B0604030504040204"/>
                <a:cs typeface="Verdana" panose="020B0604030504040204"/>
              </a:rPr>
              <a:t>of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its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internal</a:t>
            </a:r>
            <a:r>
              <a:rPr sz="3400" spc="-29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processes</a:t>
            </a:r>
            <a:endParaRPr sz="34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9087" y="1105399"/>
            <a:ext cx="8867775" cy="930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Algorithm</a:t>
            </a:r>
            <a:r>
              <a:rPr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&amp;</a:t>
            </a:r>
            <a:r>
              <a:rPr b="1" spc="-10" dirty="0">
                <a:latin typeface="Arial" panose="020B0604020202020204"/>
                <a:cs typeface="Arial" panose="020B0604020202020204"/>
              </a:rPr>
              <a:t> 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5533" y="4660772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5533" y="5260847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5533" y="6611563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5533" y="7811713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5533" y="8411788"/>
            <a:ext cx="152400" cy="1523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7100" y="1964683"/>
            <a:ext cx="17100550" cy="736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98295">
              <a:lnSpc>
                <a:spcPct val="116000"/>
              </a:lnSpc>
              <a:spcBef>
                <a:spcPts val="100"/>
              </a:spcBef>
            </a:pPr>
            <a:r>
              <a:rPr sz="3400" spc="-100" dirty="0">
                <a:latin typeface="Verdana" panose="020B0604030504040204"/>
                <a:cs typeface="Verdana" panose="020B0604030504040204"/>
              </a:rPr>
              <a:t>Step-</a:t>
            </a:r>
            <a:r>
              <a:rPr sz="3400" spc="-150" dirty="0">
                <a:latin typeface="Verdana" panose="020B0604030504040204"/>
                <a:cs typeface="Verdana" panose="020B0604030504040204"/>
              </a:rPr>
              <a:t>by-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Step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Procedure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Complete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5" dirty="0">
                <a:latin typeface="Verdana" panose="020B0604030504040204"/>
                <a:cs typeface="Verdana" panose="020B0604030504040204"/>
              </a:rPr>
              <a:t>an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Employee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5" dirty="0">
                <a:latin typeface="Verdana" panose="020B0604030504040204"/>
                <a:cs typeface="Verdana" panose="020B0604030504040204"/>
              </a:rPr>
              <a:t>Salary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Prediction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using </a:t>
            </a:r>
            <a:r>
              <a:rPr sz="3400" dirty="0">
                <a:latin typeface="Verdana" panose="020B0604030504040204"/>
                <a:cs typeface="Verdana" panose="020B0604030504040204"/>
              </a:rPr>
              <a:t>different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machine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learning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alogrithms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90" dirty="0">
                <a:latin typeface="Verdana" panose="020B0604030504040204"/>
                <a:cs typeface="Verdana" panose="020B0604030504040204"/>
              </a:rPr>
              <a:t>: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760095" indent="-456565">
              <a:lnSpc>
                <a:spcPct val="100000"/>
              </a:lnSpc>
              <a:spcBef>
                <a:spcPts val="2960"/>
              </a:spcBef>
              <a:buAutoNum type="arabicPeriod"/>
              <a:tabLst>
                <a:tab pos="760095" algn="l"/>
              </a:tabLst>
            </a:pPr>
            <a:r>
              <a:rPr sz="3400" spc="-85" dirty="0">
                <a:latin typeface="Verdana" panose="020B0604030504040204"/>
                <a:cs typeface="Verdana" panose="020B0604030504040204"/>
              </a:rPr>
              <a:t>Data</a:t>
            </a:r>
            <a:r>
              <a:rPr sz="3400" spc="-27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Collection</a:t>
            </a:r>
            <a:r>
              <a:rPr sz="3400" spc="-26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26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Loading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1630680">
              <a:lnSpc>
                <a:spcPct val="100000"/>
              </a:lnSpc>
              <a:spcBef>
                <a:spcPts val="2965"/>
              </a:spcBef>
            </a:pPr>
            <a:r>
              <a:rPr sz="3400" spc="-95" dirty="0">
                <a:latin typeface="Verdana" panose="020B0604030504040204"/>
                <a:cs typeface="Verdana" panose="020B0604030504040204"/>
              </a:rPr>
              <a:t>Import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5" dirty="0">
                <a:latin typeface="Verdana" panose="020B0604030504040204"/>
                <a:cs typeface="Verdana" panose="020B0604030504040204"/>
              </a:rPr>
              <a:t>necessary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libraries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25" dirty="0">
                <a:latin typeface="Verdana" panose="020B0604030504040204"/>
                <a:cs typeface="Verdana" panose="020B0604030504040204"/>
              </a:rPr>
              <a:t>(such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35" dirty="0">
                <a:latin typeface="Verdana" panose="020B0604030504040204"/>
                <a:cs typeface="Verdana" panose="020B0604030504040204"/>
              </a:rPr>
              <a:t>as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80" dirty="0">
                <a:latin typeface="Verdana" panose="020B0604030504040204"/>
                <a:cs typeface="Verdana" panose="020B0604030504040204"/>
              </a:rPr>
              <a:t>numpy,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matplotlib).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1630680">
              <a:lnSpc>
                <a:spcPct val="100000"/>
              </a:lnSpc>
              <a:spcBef>
                <a:spcPts val="645"/>
              </a:spcBef>
            </a:pPr>
            <a:r>
              <a:rPr sz="3400" spc="-25" dirty="0">
                <a:latin typeface="Verdana" panose="020B0604030504040204"/>
                <a:cs typeface="Verdana" panose="020B0604030504040204"/>
              </a:rPr>
              <a:t>Load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dataset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0" dirty="0">
                <a:latin typeface="Verdana" panose="020B0604030504040204"/>
                <a:cs typeface="Verdana" panose="020B0604030504040204"/>
              </a:rPr>
              <a:t>("adult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80" dirty="0">
                <a:latin typeface="Verdana" panose="020B0604030504040204"/>
                <a:cs typeface="Verdana" panose="020B0604030504040204"/>
              </a:rPr>
              <a:t>3.csv")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into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70" dirty="0">
                <a:latin typeface="Verdana" panose="020B0604030504040204"/>
                <a:cs typeface="Verdana" panose="020B0604030504040204"/>
              </a:rPr>
              <a:t>a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pandas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4" dirty="0">
                <a:latin typeface="Verdana" panose="020B0604030504040204"/>
                <a:cs typeface="Verdana" panose="020B0604030504040204"/>
              </a:rPr>
              <a:t>DataFrame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for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analysis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829945" indent="-458470">
              <a:lnSpc>
                <a:spcPct val="100000"/>
              </a:lnSpc>
              <a:spcBef>
                <a:spcPts val="1770"/>
              </a:spcBef>
              <a:buAutoNum type="arabicPeriod" startAt="2"/>
              <a:tabLst>
                <a:tab pos="829310" algn="l"/>
              </a:tabLst>
            </a:pPr>
            <a:r>
              <a:rPr sz="3400" spc="-85" dirty="0">
                <a:latin typeface="Verdana" panose="020B0604030504040204"/>
                <a:cs typeface="Verdana" panose="020B0604030504040204"/>
              </a:rPr>
              <a:t>Data</a:t>
            </a:r>
            <a:r>
              <a:rPr sz="3400" spc="-3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Exploration</a:t>
            </a:r>
            <a:r>
              <a:rPr sz="3400" spc="-3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Preprocessing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1630680" marR="452755">
              <a:lnSpc>
                <a:spcPct val="116000"/>
              </a:lnSpc>
              <a:spcBef>
                <a:spcPts val="60"/>
              </a:spcBef>
            </a:pPr>
            <a:r>
              <a:rPr sz="3400" spc="-150" dirty="0">
                <a:latin typeface="Verdana" panose="020B0604030504040204"/>
                <a:cs typeface="Verdana" panose="020B0604030504040204"/>
              </a:rPr>
              <a:t>Examine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dataset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understand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feature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types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identify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4" dirty="0">
                <a:latin typeface="Verdana" panose="020B0604030504040204"/>
                <a:cs typeface="Verdana" panose="020B0604030504040204"/>
              </a:rPr>
              <a:t>missing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or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inconsistent</a:t>
            </a:r>
            <a:r>
              <a:rPr sz="3400" spc="-25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values.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1630680" marR="5080">
              <a:lnSpc>
                <a:spcPct val="116000"/>
              </a:lnSpc>
            </a:pPr>
            <a:r>
              <a:rPr sz="3400" spc="-50" dirty="0">
                <a:latin typeface="Verdana" panose="020B0604030504040204"/>
                <a:cs typeface="Verdana" panose="020B0604030504040204"/>
              </a:rPr>
              <a:t>Address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4" dirty="0">
                <a:latin typeface="Verdana" panose="020B0604030504040204"/>
                <a:cs typeface="Verdana" panose="020B0604030504040204"/>
              </a:rPr>
              <a:t>missing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0" dirty="0">
                <a:latin typeface="Verdana" panose="020B0604030504040204"/>
                <a:cs typeface="Verdana" panose="020B0604030504040204"/>
              </a:rPr>
              <a:t>values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appropriately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(e.g.,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imputation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removal).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Encode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categorical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5" dirty="0">
                <a:latin typeface="Verdana" panose="020B0604030504040204"/>
                <a:cs typeface="Verdana" panose="020B0604030504040204"/>
              </a:rPr>
              <a:t>variables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0" dirty="0">
                <a:latin typeface="Verdana" panose="020B0604030504040204"/>
                <a:cs typeface="Verdana" panose="020B0604030504040204"/>
              </a:rPr>
              <a:t>using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suitable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techniques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80" dirty="0">
                <a:latin typeface="Verdana" panose="020B0604030504040204"/>
                <a:cs typeface="Verdana" panose="020B0604030504040204"/>
              </a:rPr>
              <a:t>(like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label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encoding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5" dirty="0">
                <a:latin typeface="Verdana" panose="020B0604030504040204"/>
                <a:cs typeface="Verdana" panose="020B0604030504040204"/>
              </a:rPr>
              <a:t>one-</a:t>
            </a:r>
            <a:r>
              <a:rPr sz="3400" dirty="0">
                <a:latin typeface="Verdana" panose="020B0604030504040204"/>
                <a:cs typeface="Verdana" panose="020B0604030504040204"/>
              </a:rPr>
              <a:t>hot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0" dirty="0">
                <a:latin typeface="Verdana" panose="020B0604030504040204"/>
                <a:cs typeface="Verdana" panose="020B0604030504040204"/>
              </a:rPr>
              <a:t>encoding)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prepare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data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for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5" dirty="0">
                <a:latin typeface="Verdana" panose="020B0604030504040204"/>
                <a:cs typeface="Verdana" panose="020B0604030504040204"/>
              </a:rPr>
              <a:t>machine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5" dirty="0">
                <a:latin typeface="Verdana" panose="020B0604030504040204"/>
                <a:cs typeface="Verdana" panose="020B0604030504040204"/>
              </a:rPr>
              <a:t>learning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algorithms.</a:t>
            </a:r>
            <a:endParaRPr sz="34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2390872"/>
            <a:ext cx="152400" cy="152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3591022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5892251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174" y="8377007"/>
            <a:ext cx="152400" cy="152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6000" y="1224250"/>
            <a:ext cx="16955135" cy="807148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76250" indent="-462915">
              <a:lnSpc>
                <a:spcPct val="100000"/>
              </a:lnSpc>
              <a:spcBef>
                <a:spcPts val="140"/>
              </a:spcBef>
              <a:buAutoNum type="arabicPeriod" startAt="3"/>
              <a:tabLst>
                <a:tab pos="476250" algn="l"/>
              </a:tabLst>
            </a:pPr>
            <a:r>
              <a:rPr sz="3350" spc="-229" dirty="0">
                <a:latin typeface="Arial Black" panose="020B0A04020102020204"/>
                <a:cs typeface="Arial Black" panose="020B0A04020102020204"/>
              </a:rPr>
              <a:t>Feature</a:t>
            </a:r>
            <a:r>
              <a:rPr sz="3350" spc="-27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350" spc="-210" dirty="0">
                <a:latin typeface="Arial Black" panose="020B0A04020102020204"/>
                <a:cs typeface="Arial Black" panose="020B0A04020102020204"/>
              </a:rPr>
              <a:t>Selection</a:t>
            </a:r>
            <a:r>
              <a:rPr sz="3350" spc="-27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350" spc="-175" dirty="0">
                <a:latin typeface="Arial Black" panose="020B0A04020102020204"/>
                <a:cs typeface="Arial Black" panose="020B0A04020102020204"/>
              </a:rPr>
              <a:t>and</a:t>
            </a:r>
            <a:r>
              <a:rPr sz="3350" spc="-27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350" spc="-105" dirty="0">
                <a:latin typeface="Arial Black" panose="020B0A04020102020204"/>
                <a:cs typeface="Arial Black" panose="020B0A04020102020204"/>
              </a:rPr>
              <a:t>Engineering</a:t>
            </a:r>
            <a:endParaRPr sz="3350">
              <a:latin typeface="Arial Black" panose="020B0A04020102020204"/>
              <a:cs typeface="Arial Black" panose="020B0A04020102020204"/>
            </a:endParaRPr>
          </a:p>
          <a:p>
            <a:pPr marL="746125" marR="703580">
              <a:lnSpc>
                <a:spcPct val="116000"/>
              </a:lnSpc>
              <a:spcBef>
                <a:spcPts val="2705"/>
              </a:spcBef>
            </a:pPr>
            <a:r>
              <a:rPr sz="3400" dirty="0">
                <a:latin typeface="Verdana" panose="020B0604030504040204"/>
                <a:cs typeface="Verdana" panose="020B0604030504040204"/>
              </a:rPr>
              <a:t>Identify</a:t>
            </a:r>
            <a:r>
              <a:rPr sz="3400" spc="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select</a:t>
            </a:r>
            <a:r>
              <a:rPr sz="3400" spc="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features</a:t>
            </a:r>
            <a:r>
              <a:rPr sz="3400" spc="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most</a:t>
            </a:r>
            <a:r>
              <a:rPr sz="3400" spc="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relevant</a:t>
            </a:r>
            <a:r>
              <a:rPr sz="3400" spc="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predicting</a:t>
            </a:r>
            <a:r>
              <a:rPr sz="3400" spc="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target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variable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0" dirty="0">
                <a:latin typeface="Verdana" panose="020B0604030504040204"/>
                <a:cs typeface="Verdana" panose="020B0604030504040204"/>
              </a:rPr>
              <a:t>(income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category).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746125" marR="703580">
              <a:lnSpc>
                <a:spcPct val="116000"/>
              </a:lnSpc>
            </a:pPr>
            <a:r>
              <a:rPr sz="3400" spc="-90" dirty="0">
                <a:latin typeface="Verdana" panose="020B0604030504040204"/>
                <a:cs typeface="Verdana" panose="020B0604030504040204"/>
              </a:rPr>
              <a:t>Engineer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transform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features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35" dirty="0">
                <a:latin typeface="Verdana" panose="020B0604030504040204"/>
                <a:cs typeface="Verdana" panose="020B0604030504040204"/>
              </a:rPr>
              <a:t>as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needed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enhance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predictive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power </a:t>
            </a:r>
            <a:r>
              <a:rPr sz="3400" spc="55" dirty="0">
                <a:latin typeface="Verdana" panose="020B0604030504040204"/>
                <a:cs typeface="Verdana" panose="020B0604030504040204"/>
              </a:rPr>
              <a:t>of</a:t>
            </a:r>
            <a:r>
              <a:rPr sz="3400" spc="-35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35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dataset.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496570" indent="-483870">
              <a:lnSpc>
                <a:spcPct val="100000"/>
              </a:lnSpc>
              <a:spcBef>
                <a:spcPts val="3340"/>
              </a:spcBef>
              <a:buAutoNum type="arabicPeriod" startAt="4"/>
              <a:tabLst>
                <a:tab pos="496570" algn="l"/>
              </a:tabLst>
            </a:pPr>
            <a:r>
              <a:rPr sz="3400" spc="-229" dirty="0">
                <a:latin typeface="Arial Black" panose="020B0A04020102020204"/>
                <a:cs typeface="Arial Black" panose="020B0A04020102020204"/>
              </a:rPr>
              <a:t>Data</a:t>
            </a:r>
            <a:r>
              <a:rPr sz="3400" spc="-30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65" dirty="0">
                <a:latin typeface="Arial Black" panose="020B0A04020102020204"/>
                <a:cs typeface="Arial Black" panose="020B0A04020102020204"/>
              </a:rPr>
              <a:t>Splitting</a:t>
            </a:r>
            <a:endParaRPr sz="3400">
              <a:latin typeface="Arial Black" panose="020B0A04020102020204"/>
              <a:cs typeface="Arial Black" panose="020B0A04020102020204"/>
            </a:endParaRPr>
          </a:p>
          <a:p>
            <a:pPr marL="746125" marR="564515">
              <a:lnSpc>
                <a:spcPct val="116000"/>
              </a:lnSpc>
              <a:spcBef>
                <a:spcPts val="1250"/>
              </a:spcBef>
            </a:pPr>
            <a:r>
              <a:rPr sz="3400" spc="-35" dirty="0">
                <a:latin typeface="Verdana" panose="020B0604030504040204"/>
                <a:cs typeface="Verdana" panose="020B0604030504040204"/>
              </a:rPr>
              <a:t>Split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dataset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into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5" dirty="0">
                <a:latin typeface="Verdana" panose="020B0604030504040204"/>
                <a:cs typeface="Verdana" panose="020B0604030504040204"/>
              </a:rPr>
              <a:t>training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testing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5" dirty="0">
                <a:latin typeface="Verdana" panose="020B0604030504040204"/>
                <a:cs typeface="Verdana" panose="020B0604030504040204"/>
              </a:rPr>
              <a:t>subsets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allow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for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proper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model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evaluation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avoid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overfitting.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485140" indent="-472440">
              <a:lnSpc>
                <a:spcPct val="100000"/>
              </a:lnSpc>
              <a:spcBef>
                <a:spcPts val="3340"/>
              </a:spcBef>
              <a:buAutoNum type="arabicPeriod" startAt="5"/>
              <a:tabLst>
                <a:tab pos="485140" algn="l"/>
              </a:tabLst>
            </a:pPr>
            <a:r>
              <a:rPr sz="3400" spc="-150" dirty="0">
                <a:latin typeface="Arial Black" panose="020B0A04020102020204"/>
                <a:cs typeface="Arial Black" panose="020B0A04020102020204"/>
              </a:rPr>
              <a:t>Model</a:t>
            </a:r>
            <a:r>
              <a:rPr sz="3400" spc="-290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229" dirty="0">
                <a:latin typeface="Arial Black" panose="020B0A04020102020204"/>
                <a:cs typeface="Arial Black" panose="020B0A04020102020204"/>
              </a:rPr>
              <a:t>Selection</a:t>
            </a:r>
            <a:r>
              <a:rPr sz="3400" spc="-28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190" dirty="0">
                <a:latin typeface="Arial Black" panose="020B0A04020102020204"/>
                <a:cs typeface="Arial Black" panose="020B0A04020102020204"/>
              </a:rPr>
              <a:t>and</a:t>
            </a:r>
            <a:r>
              <a:rPr sz="3400" spc="-285" dirty="0">
                <a:latin typeface="Arial Black" panose="020B0A04020102020204"/>
                <a:cs typeface="Arial Black" panose="020B0A04020102020204"/>
              </a:rPr>
              <a:t> </a:t>
            </a:r>
            <a:r>
              <a:rPr sz="3400" spc="-270" dirty="0">
                <a:latin typeface="Arial Black" panose="020B0A04020102020204"/>
                <a:cs typeface="Arial Black" panose="020B0A04020102020204"/>
              </a:rPr>
              <a:t>Training</a:t>
            </a:r>
            <a:endParaRPr sz="3400">
              <a:latin typeface="Arial Black" panose="020B0A04020102020204"/>
              <a:cs typeface="Arial Black" panose="020B0A04020102020204"/>
            </a:endParaRPr>
          </a:p>
          <a:p>
            <a:pPr marL="746125" marR="5080">
              <a:lnSpc>
                <a:spcPct val="116000"/>
              </a:lnSpc>
              <a:spcBef>
                <a:spcPts val="2695"/>
              </a:spcBef>
            </a:pPr>
            <a:r>
              <a:rPr sz="3400" spc="-40" dirty="0">
                <a:latin typeface="Verdana" panose="020B0604030504040204"/>
                <a:cs typeface="Verdana" panose="020B0604030504040204"/>
              </a:rPr>
              <a:t>Choose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4" dirty="0">
                <a:latin typeface="Verdana" panose="020B0604030504040204"/>
                <a:cs typeface="Verdana" panose="020B0604030504040204"/>
              </a:rPr>
              <a:t>an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appropriate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algorithm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for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0" dirty="0">
                <a:latin typeface="Verdana" panose="020B0604030504040204"/>
                <a:cs typeface="Verdana" panose="020B0604030504040204"/>
              </a:rPr>
              <a:t>classification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25" dirty="0">
                <a:latin typeface="Verdana" panose="020B0604030504040204"/>
                <a:cs typeface="Verdana" panose="020B0604030504040204"/>
              </a:rPr>
              <a:t>(such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35" dirty="0">
                <a:latin typeface="Verdana" panose="020B0604030504040204"/>
                <a:cs typeface="Verdana" panose="020B0604030504040204"/>
              </a:rPr>
              <a:t>as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logistic</a:t>
            </a:r>
            <a:r>
              <a:rPr sz="3400" spc="-30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regression,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decision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30" dirty="0">
                <a:latin typeface="Verdana" panose="020B0604030504040204"/>
                <a:cs typeface="Verdana" panose="020B0604030504040204"/>
              </a:rPr>
              <a:t>tree,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5" dirty="0">
                <a:latin typeface="Verdana" panose="020B0604030504040204"/>
                <a:cs typeface="Verdana" panose="020B0604030504040204"/>
              </a:rPr>
              <a:t>random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forest).</a:t>
            </a:r>
            <a:endParaRPr sz="34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093" y="1223644"/>
            <a:ext cx="152400" cy="152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8093" y="2957796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093" y="4157946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093" y="6090602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093" y="6690677"/>
            <a:ext cx="152400" cy="1523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16000" y="998251"/>
            <a:ext cx="17012285" cy="6610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4410">
              <a:lnSpc>
                <a:spcPct val="100000"/>
              </a:lnSpc>
              <a:spcBef>
                <a:spcPts val="100"/>
              </a:spcBef>
            </a:pPr>
            <a:r>
              <a:rPr sz="3400" spc="-130" dirty="0">
                <a:latin typeface="Verdana" panose="020B0604030504040204"/>
                <a:cs typeface="Verdana" panose="020B0604030504040204"/>
              </a:rPr>
              <a:t>Train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selected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model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on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5" dirty="0">
                <a:latin typeface="Verdana" panose="020B0604030504040204"/>
                <a:cs typeface="Verdana" panose="020B0604030504040204"/>
              </a:rPr>
              <a:t>training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data.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499110" indent="-486410">
              <a:lnSpc>
                <a:spcPct val="100000"/>
              </a:lnSpc>
              <a:spcBef>
                <a:spcPts val="3880"/>
              </a:spcBef>
              <a:buSzPct val="90000"/>
              <a:buAutoNum type="arabicPeriod" startAt="6"/>
              <a:tabLst>
                <a:tab pos="498475" algn="l"/>
              </a:tabLst>
            </a:pPr>
            <a:r>
              <a:rPr sz="3400" spc="65" dirty="0">
                <a:latin typeface="Verdana" panose="020B0604030504040204"/>
                <a:cs typeface="Verdana" panose="020B0604030504040204"/>
              </a:rPr>
              <a:t>Model</a:t>
            </a:r>
            <a:r>
              <a:rPr sz="3400" spc="-37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Evaluation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994410" marR="5080">
              <a:lnSpc>
                <a:spcPct val="116000"/>
              </a:lnSpc>
              <a:spcBef>
                <a:spcPts val="970"/>
              </a:spcBef>
            </a:pPr>
            <a:r>
              <a:rPr sz="3400" spc="-95" dirty="0">
                <a:latin typeface="Verdana" panose="020B0604030504040204"/>
                <a:cs typeface="Verdana" panose="020B0604030504040204"/>
              </a:rPr>
              <a:t>Evaluate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model's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5" dirty="0">
                <a:latin typeface="Verdana" panose="020B0604030504040204"/>
                <a:cs typeface="Verdana" panose="020B0604030504040204"/>
              </a:rPr>
              <a:t>performance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on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0" dirty="0">
                <a:latin typeface="Verdana" panose="020B0604030504040204"/>
                <a:cs typeface="Verdana" panose="020B0604030504040204"/>
              </a:rPr>
              <a:t>test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set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0" dirty="0">
                <a:latin typeface="Verdana" panose="020B0604030504040204"/>
                <a:cs typeface="Verdana" panose="020B0604030504040204"/>
              </a:rPr>
              <a:t>using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metrics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0" dirty="0">
                <a:latin typeface="Verdana" panose="020B0604030504040204"/>
                <a:cs typeface="Verdana" panose="020B0604030504040204"/>
              </a:rPr>
              <a:t>like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0" dirty="0">
                <a:latin typeface="Verdana" panose="020B0604030504040204"/>
                <a:cs typeface="Verdana" panose="020B0604030504040204"/>
              </a:rPr>
              <a:t>accuracy,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precision,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recall,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or</a:t>
            </a:r>
            <a:r>
              <a:rPr sz="3400" spc="-3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95" dirty="0">
                <a:latin typeface="Verdana" panose="020B0604030504040204"/>
                <a:cs typeface="Verdana" panose="020B0604030504040204"/>
              </a:rPr>
              <a:t>F1-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score.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994410">
              <a:lnSpc>
                <a:spcPct val="100000"/>
              </a:lnSpc>
              <a:spcBef>
                <a:spcPts val="645"/>
              </a:spcBef>
            </a:pPr>
            <a:r>
              <a:rPr sz="3400" spc="-165" dirty="0">
                <a:latin typeface="Verdana" panose="020B0604030504040204"/>
                <a:cs typeface="Verdana" panose="020B0604030504040204"/>
              </a:rPr>
              <a:t>If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5" dirty="0">
                <a:latin typeface="Verdana" panose="020B0604030504040204"/>
                <a:cs typeface="Verdana" panose="020B0604030504040204"/>
              </a:rPr>
              <a:t>needed,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40" dirty="0">
                <a:latin typeface="Verdana" panose="020B0604030504040204"/>
                <a:cs typeface="Verdana" panose="020B0604030504040204"/>
              </a:rPr>
              <a:t>perform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hyperparameter</a:t>
            </a:r>
            <a:r>
              <a:rPr sz="3400" spc="-31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tuning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5" dirty="0">
                <a:latin typeface="Verdana" panose="020B0604030504040204"/>
                <a:cs typeface="Verdana" panose="020B0604030504040204"/>
              </a:rPr>
              <a:t>improve</a:t>
            </a:r>
            <a:r>
              <a:rPr sz="3400" spc="-31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performance.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400685" indent="-400050">
              <a:lnSpc>
                <a:spcPct val="100000"/>
              </a:lnSpc>
              <a:spcBef>
                <a:spcPts val="3190"/>
              </a:spcBef>
              <a:buSzPct val="90000"/>
              <a:buAutoNum type="arabicPeriod" startAt="7"/>
              <a:tabLst>
                <a:tab pos="400685" algn="l"/>
              </a:tabLst>
            </a:pPr>
            <a:r>
              <a:rPr sz="3400" spc="-40" dirty="0">
                <a:latin typeface="Verdana" panose="020B0604030504040204"/>
                <a:cs typeface="Verdana" panose="020B0604030504040204"/>
              </a:rPr>
              <a:t>Deployment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5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Reporting</a:t>
            </a:r>
            <a:endParaRPr sz="3400">
              <a:latin typeface="Verdana" panose="020B0604030504040204"/>
              <a:cs typeface="Verdana" panose="020B0604030504040204"/>
            </a:endParaRPr>
          </a:p>
          <a:p>
            <a:pPr marL="994410" marR="285115" algn="just">
              <a:lnSpc>
                <a:spcPct val="116000"/>
              </a:lnSpc>
              <a:spcBef>
                <a:spcPts val="3220"/>
              </a:spcBef>
            </a:pPr>
            <a:r>
              <a:rPr sz="3400" spc="-125" dirty="0">
                <a:latin typeface="Verdana" panose="020B0604030504040204"/>
                <a:cs typeface="Verdana" panose="020B0604030504040204"/>
              </a:rPr>
              <a:t>Use</a:t>
            </a:r>
            <a:r>
              <a:rPr sz="3400" spc="-17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22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0" dirty="0">
                <a:latin typeface="Verdana" panose="020B0604030504040204"/>
                <a:cs typeface="Verdana" panose="020B0604030504040204"/>
              </a:rPr>
              <a:t>trained</a:t>
            </a:r>
            <a:r>
              <a:rPr sz="3400" spc="-229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model</a:t>
            </a:r>
            <a:r>
              <a:rPr sz="3400" spc="-24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to</a:t>
            </a:r>
            <a:r>
              <a:rPr sz="3400" spc="-229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predict</a:t>
            </a:r>
            <a:r>
              <a:rPr sz="3400" spc="-20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20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20" dirty="0">
                <a:latin typeface="Verdana" panose="020B0604030504040204"/>
                <a:cs typeface="Verdana" panose="020B0604030504040204"/>
              </a:rPr>
              <a:t>salary</a:t>
            </a:r>
            <a:r>
              <a:rPr sz="3400" spc="-18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0" dirty="0">
                <a:latin typeface="Verdana" panose="020B0604030504040204"/>
                <a:cs typeface="Verdana" panose="020B0604030504040204"/>
              </a:rPr>
              <a:t>category</a:t>
            </a:r>
            <a:r>
              <a:rPr sz="3400" spc="-20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15" dirty="0">
                <a:latin typeface="Verdana" panose="020B0604030504040204"/>
                <a:cs typeface="Verdana" panose="020B0604030504040204"/>
              </a:rPr>
              <a:t>of</a:t>
            </a:r>
            <a:r>
              <a:rPr sz="3400" spc="-20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70" dirty="0">
                <a:latin typeface="Verdana" panose="020B0604030504040204"/>
                <a:cs typeface="Verdana" panose="020B0604030504040204"/>
              </a:rPr>
              <a:t>new</a:t>
            </a:r>
            <a:r>
              <a:rPr sz="340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5" dirty="0">
                <a:latin typeface="Verdana" panose="020B0604030504040204"/>
                <a:cs typeface="Verdana" panose="020B0604030504040204"/>
              </a:rPr>
              <a:t>employee</a:t>
            </a:r>
            <a:r>
              <a:rPr sz="3400" spc="-20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0" dirty="0">
                <a:latin typeface="Verdana" panose="020B0604030504040204"/>
                <a:cs typeface="Verdana" panose="020B0604030504040204"/>
              </a:rPr>
              <a:t>data. </a:t>
            </a:r>
            <a:r>
              <a:rPr sz="3400" spc="-65" dirty="0">
                <a:latin typeface="Verdana" panose="020B0604030504040204"/>
                <a:cs typeface="Verdana" panose="020B0604030504040204"/>
              </a:rPr>
              <a:t>Document</a:t>
            </a:r>
            <a:r>
              <a:rPr sz="3400" spc="-22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17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entire</a:t>
            </a:r>
            <a:r>
              <a:rPr sz="3400" spc="-18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0" dirty="0">
                <a:latin typeface="Verdana" panose="020B0604030504040204"/>
                <a:cs typeface="Verdana" panose="020B0604030504040204"/>
              </a:rPr>
              <a:t>process,</a:t>
            </a:r>
            <a:r>
              <a:rPr sz="3400" spc="-17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18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95" dirty="0">
                <a:latin typeface="Verdana" panose="020B0604030504040204"/>
                <a:cs typeface="Verdana" panose="020B0604030504040204"/>
              </a:rPr>
              <a:t>insights</a:t>
            </a:r>
            <a:r>
              <a:rPr sz="3400" spc="-18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65" dirty="0">
                <a:latin typeface="Verdana" panose="020B0604030504040204"/>
                <a:cs typeface="Verdana" panose="020B0604030504040204"/>
              </a:rPr>
              <a:t>gained,</a:t>
            </a:r>
            <a:r>
              <a:rPr sz="3400" spc="-1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14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17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0" dirty="0">
                <a:latin typeface="Verdana" panose="020B0604030504040204"/>
                <a:cs typeface="Verdana" panose="020B0604030504040204"/>
              </a:rPr>
              <a:t>the</a:t>
            </a:r>
            <a:r>
              <a:rPr sz="3400" spc="-18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85" dirty="0">
                <a:latin typeface="Verdana" panose="020B0604030504040204"/>
                <a:cs typeface="Verdana" panose="020B0604030504040204"/>
              </a:rPr>
              <a:t>model’s</a:t>
            </a:r>
            <a:r>
              <a:rPr sz="3400" spc="-17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75" dirty="0">
                <a:latin typeface="Verdana" panose="020B0604030504040204"/>
                <a:cs typeface="Verdana" panose="020B0604030504040204"/>
              </a:rPr>
              <a:t>results</a:t>
            </a:r>
            <a:r>
              <a:rPr sz="3400" spc="-18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25" dirty="0">
                <a:latin typeface="Verdana" panose="020B0604030504040204"/>
                <a:cs typeface="Verdana" panose="020B0604030504040204"/>
              </a:rPr>
              <a:t>in </a:t>
            </a:r>
            <a:r>
              <a:rPr sz="3400" spc="-170" dirty="0">
                <a:latin typeface="Verdana" panose="020B0604030504040204"/>
                <a:cs typeface="Verdana" panose="020B0604030504040204"/>
              </a:rPr>
              <a:t>a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5" dirty="0">
                <a:latin typeface="Verdana" panose="020B0604030504040204"/>
                <a:cs typeface="Verdana" panose="020B0604030504040204"/>
              </a:rPr>
              <a:t>clear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60" dirty="0">
                <a:latin typeface="Verdana" panose="020B0604030504040204"/>
                <a:cs typeface="Verdana" panose="020B0604030504040204"/>
              </a:rPr>
              <a:t>and</a:t>
            </a:r>
            <a:r>
              <a:rPr sz="3400" spc="-330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30" dirty="0">
                <a:latin typeface="Verdana" panose="020B0604030504040204"/>
                <a:cs typeface="Verdana" panose="020B0604030504040204"/>
              </a:rPr>
              <a:t>structured</a:t>
            </a:r>
            <a:r>
              <a:rPr sz="3400" spc="-335" dirty="0">
                <a:latin typeface="Verdana" panose="020B0604030504040204"/>
                <a:cs typeface="Verdana" panose="020B0604030504040204"/>
              </a:rPr>
              <a:t> </a:t>
            </a:r>
            <a:r>
              <a:rPr sz="3400" spc="-10" dirty="0">
                <a:latin typeface="Verdana" panose="020B0604030504040204"/>
                <a:cs typeface="Verdana" panose="020B0604030504040204"/>
              </a:rPr>
              <a:t>report.</a:t>
            </a:r>
            <a:endParaRPr sz="34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3233" y="1612079"/>
            <a:ext cx="10067122" cy="72263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7100" y="942164"/>
            <a:ext cx="5118735" cy="170561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214630">
              <a:lnSpc>
                <a:spcPct val="100000"/>
              </a:lnSpc>
              <a:spcBef>
                <a:spcPts val="1425"/>
              </a:spcBef>
            </a:pPr>
            <a:r>
              <a:rPr b="1" spc="-10" dirty="0">
                <a:latin typeface="Arial" panose="020B0604020202020204"/>
                <a:cs typeface="Arial" panose="020B0604020202020204"/>
              </a:rPr>
              <a:t>Result</a:t>
            </a: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3400" spc="-160" dirty="0">
                <a:solidFill>
                  <a:srgbClr val="000000"/>
                </a:solidFill>
              </a:rPr>
              <a:t>After</a:t>
            </a:r>
            <a:r>
              <a:rPr sz="3400" spc="-285" dirty="0">
                <a:solidFill>
                  <a:srgbClr val="000000"/>
                </a:solidFill>
              </a:rPr>
              <a:t> </a:t>
            </a:r>
            <a:r>
              <a:rPr sz="3400" spc="-165" dirty="0">
                <a:solidFill>
                  <a:srgbClr val="000000"/>
                </a:solidFill>
              </a:rPr>
              <a:t>Outliner</a:t>
            </a:r>
            <a:r>
              <a:rPr sz="3400" spc="-280" dirty="0">
                <a:solidFill>
                  <a:srgbClr val="000000"/>
                </a:solidFill>
              </a:rPr>
              <a:t> </a:t>
            </a:r>
            <a:r>
              <a:rPr sz="3400" spc="-160" dirty="0">
                <a:solidFill>
                  <a:srgbClr val="000000"/>
                </a:solidFill>
              </a:rPr>
              <a:t>detection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102" y="3150787"/>
            <a:ext cx="6132734" cy="42996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8459" y="2961552"/>
            <a:ext cx="6041370" cy="42404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952" y="1310440"/>
            <a:ext cx="9531662" cy="81824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053816"/>
            <a:ext cx="47034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90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Github</a:t>
            </a:r>
            <a:r>
              <a:rPr sz="6000" spc="-590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6000" spc="-45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Link</a:t>
            </a:r>
            <a:r>
              <a:rPr sz="6000" spc="-585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6000" spc="-409" dirty="0">
                <a:solidFill>
                  <a:srgbClr val="1BACE3"/>
                </a:solidFill>
                <a:latin typeface="Arial Black" panose="020B0A04020102020204"/>
                <a:cs typeface="Arial Black" panose="020B0A04020102020204"/>
              </a:rPr>
              <a:t>:</a:t>
            </a:r>
            <a:endParaRPr sz="6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4455" y="3559810"/>
            <a:ext cx="15486380" cy="535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3400">
                <a:latin typeface="Verdana" panose="020B0604030504040204"/>
                <a:cs typeface="Verdana" panose="020B0604030504040204"/>
              </a:rPr>
              <a:t>https://github.com/veeraraghava2006/Employee_Salary_prediction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5322" y="1107230"/>
            <a:ext cx="4132579" cy="930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b="1" spc="-10" dirty="0">
                <a:latin typeface="Arial" panose="020B0604020202020204"/>
                <a:cs typeface="Arial" panose="020B0604020202020204"/>
              </a:rPr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4075" y="1758759"/>
            <a:ext cx="6238874" cy="43601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4780" marR="6221730">
              <a:lnSpc>
                <a:spcPct val="129000"/>
              </a:lnSpc>
              <a:spcBef>
                <a:spcPts val="95"/>
              </a:spcBef>
            </a:pPr>
            <a:r>
              <a:rPr spc="-70" dirty="0"/>
              <a:t>The</a:t>
            </a:r>
            <a:r>
              <a:rPr spc="-270" dirty="0"/>
              <a:t> </a:t>
            </a:r>
            <a:r>
              <a:rPr spc="-45" dirty="0"/>
              <a:t>implementation</a:t>
            </a:r>
            <a:r>
              <a:rPr spc="-270" dirty="0"/>
              <a:t> </a:t>
            </a:r>
            <a:r>
              <a:rPr spc="60" dirty="0"/>
              <a:t>of</a:t>
            </a:r>
            <a:r>
              <a:rPr spc="-270" dirty="0"/>
              <a:t> </a:t>
            </a:r>
            <a:r>
              <a:rPr spc="-20" dirty="0"/>
              <a:t>the</a:t>
            </a:r>
            <a:r>
              <a:rPr spc="-270" dirty="0"/>
              <a:t> </a:t>
            </a:r>
            <a:r>
              <a:rPr spc="-95" dirty="0"/>
              <a:t>Salary</a:t>
            </a:r>
            <a:r>
              <a:rPr spc="-270" dirty="0"/>
              <a:t> </a:t>
            </a:r>
            <a:r>
              <a:rPr dirty="0"/>
              <a:t>Prediction</a:t>
            </a:r>
            <a:r>
              <a:rPr spc="-265" dirty="0"/>
              <a:t> </a:t>
            </a:r>
            <a:r>
              <a:rPr spc="-100" dirty="0"/>
              <a:t>System</a:t>
            </a:r>
            <a:r>
              <a:rPr spc="-270" dirty="0"/>
              <a:t> </a:t>
            </a:r>
            <a:r>
              <a:rPr spc="-285" dirty="0"/>
              <a:t>,</a:t>
            </a:r>
            <a:r>
              <a:rPr spc="-270" dirty="0"/>
              <a:t> </a:t>
            </a:r>
            <a:r>
              <a:rPr spc="-409" dirty="0"/>
              <a:t>I </a:t>
            </a:r>
            <a:r>
              <a:rPr spc="-40" dirty="0"/>
              <a:t>addressed</a:t>
            </a:r>
            <a:r>
              <a:rPr spc="-290" dirty="0"/>
              <a:t> </a:t>
            </a:r>
            <a:r>
              <a:rPr spc="-30" dirty="0"/>
              <a:t>one</a:t>
            </a:r>
            <a:r>
              <a:rPr spc="-285" dirty="0"/>
              <a:t> </a:t>
            </a:r>
            <a:r>
              <a:rPr spc="60" dirty="0"/>
              <a:t>of</a:t>
            </a:r>
            <a:r>
              <a:rPr spc="-285" dirty="0"/>
              <a:t> </a:t>
            </a:r>
            <a:r>
              <a:rPr spc="-20" dirty="0"/>
              <a:t>the</a:t>
            </a:r>
            <a:r>
              <a:rPr spc="-285" dirty="0"/>
              <a:t> </a:t>
            </a:r>
            <a:r>
              <a:rPr spc="-114" dirty="0"/>
              <a:t>major</a:t>
            </a:r>
            <a:r>
              <a:rPr spc="-285" dirty="0"/>
              <a:t> </a:t>
            </a:r>
            <a:r>
              <a:rPr dirty="0"/>
              <a:t>concerns</a:t>
            </a:r>
            <a:r>
              <a:rPr spc="-285" dirty="0"/>
              <a:t> </a:t>
            </a:r>
            <a:r>
              <a:rPr spc="-40" dirty="0"/>
              <a:t>in</a:t>
            </a:r>
            <a:r>
              <a:rPr spc="-285" dirty="0"/>
              <a:t> </a:t>
            </a:r>
            <a:r>
              <a:rPr spc="-20" dirty="0"/>
              <a:t>the</a:t>
            </a:r>
            <a:r>
              <a:rPr spc="-285" dirty="0"/>
              <a:t> </a:t>
            </a:r>
            <a:r>
              <a:rPr spc="-10" dirty="0"/>
              <a:t>current </a:t>
            </a:r>
            <a:r>
              <a:rPr spc="-65" dirty="0"/>
              <a:t>workforce.By</a:t>
            </a:r>
            <a:r>
              <a:rPr spc="-260" dirty="0"/>
              <a:t> </a:t>
            </a:r>
            <a:r>
              <a:rPr spc="-100" dirty="0"/>
              <a:t>analyzing</a:t>
            </a:r>
            <a:r>
              <a:rPr spc="-254" dirty="0"/>
              <a:t> </a:t>
            </a:r>
            <a:r>
              <a:rPr spc="-50" dirty="0"/>
              <a:t>employee</a:t>
            </a:r>
            <a:r>
              <a:rPr spc="-260" dirty="0"/>
              <a:t> </a:t>
            </a:r>
            <a:r>
              <a:rPr spc="-50" dirty="0"/>
              <a:t>data</a:t>
            </a:r>
            <a:r>
              <a:rPr spc="-254" dirty="0"/>
              <a:t> </a:t>
            </a:r>
            <a:r>
              <a:rPr spc="-45" dirty="0"/>
              <a:t>and</a:t>
            </a:r>
            <a:r>
              <a:rPr spc="-254" dirty="0"/>
              <a:t> </a:t>
            </a:r>
            <a:r>
              <a:rPr spc="-50" dirty="0"/>
              <a:t>applying</a:t>
            </a:r>
            <a:r>
              <a:rPr spc="-260" dirty="0"/>
              <a:t> </a:t>
            </a:r>
            <a:r>
              <a:rPr spc="-10" dirty="0"/>
              <a:t>machine </a:t>
            </a:r>
            <a:r>
              <a:rPr spc="-70" dirty="0"/>
              <a:t>learning</a:t>
            </a:r>
            <a:r>
              <a:rPr spc="-275" dirty="0"/>
              <a:t> </a:t>
            </a:r>
            <a:r>
              <a:rPr spc="-50" dirty="0"/>
              <a:t>techniques,</a:t>
            </a:r>
            <a:r>
              <a:rPr spc="-275" dirty="0"/>
              <a:t> </a:t>
            </a:r>
            <a:r>
              <a:rPr spc="-360" dirty="0"/>
              <a:t>I</a:t>
            </a:r>
            <a:r>
              <a:rPr spc="-275" dirty="0"/>
              <a:t> </a:t>
            </a:r>
            <a:r>
              <a:rPr spc="-10" dirty="0"/>
              <a:t>developed</a:t>
            </a:r>
            <a:r>
              <a:rPr spc="-275" dirty="0"/>
              <a:t> </a:t>
            </a:r>
            <a:r>
              <a:rPr spc="-130" dirty="0"/>
              <a:t>a</a:t>
            </a:r>
            <a:r>
              <a:rPr spc="-270" dirty="0"/>
              <a:t> </a:t>
            </a:r>
            <a:r>
              <a:rPr spc="-75" dirty="0"/>
              <a:t>system</a:t>
            </a:r>
            <a:r>
              <a:rPr spc="-275" dirty="0"/>
              <a:t> </a:t>
            </a:r>
            <a:r>
              <a:rPr spc="-25" dirty="0"/>
              <a:t>that</a:t>
            </a:r>
            <a:r>
              <a:rPr spc="-275" dirty="0"/>
              <a:t> </a:t>
            </a:r>
            <a:r>
              <a:rPr spc="-30" dirty="0"/>
              <a:t>can</a:t>
            </a:r>
            <a:r>
              <a:rPr spc="-275" dirty="0"/>
              <a:t> </a:t>
            </a:r>
            <a:r>
              <a:rPr spc="-10" dirty="0"/>
              <a:t>predict </a:t>
            </a:r>
            <a:r>
              <a:rPr spc="-35" dirty="0"/>
              <a:t>fair</a:t>
            </a:r>
            <a:r>
              <a:rPr spc="-265" dirty="0"/>
              <a:t> </a:t>
            </a:r>
            <a:r>
              <a:rPr spc="-45" dirty="0"/>
              <a:t>and</a:t>
            </a:r>
            <a:r>
              <a:rPr spc="-265" dirty="0"/>
              <a:t> </a:t>
            </a:r>
            <a:r>
              <a:rPr spc="-20" dirty="0"/>
              <a:t>competitive</a:t>
            </a:r>
            <a:r>
              <a:rPr spc="-265" dirty="0"/>
              <a:t> </a:t>
            </a:r>
            <a:r>
              <a:rPr spc="-65" dirty="0"/>
              <a:t>salaries</a:t>
            </a:r>
            <a:r>
              <a:rPr spc="-265" dirty="0"/>
              <a:t> </a:t>
            </a:r>
            <a:r>
              <a:rPr spc="-35" dirty="0"/>
              <a:t>based</a:t>
            </a:r>
            <a:r>
              <a:rPr spc="-265" dirty="0"/>
              <a:t> </a:t>
            </a:r>
            <a:r>
              <a:rPr spc="-10" dirty="0"/>
              <a:t>on</a:t>
            </a:r>
            <a:r>
              <a:rPr spc="-265" dirty="0"/>
              <a:t> </a:t>
            </a:r>
            <a:r>
              <a:rPr spc="-60" dirty="0"/>
              <a:t>various</a:t>
            </a:r>
            <a:r>
              <a:rPr spc="-260" dirty="0"/>
              <a:t> </a:t>
            </a:r>
            <a:r>
              <a:rPr spc="-25" dirty="0"/>
              <a:t>attributes</a:t>
            </a:r>
            <a:r>
              <a:rPr spc="-265" dirty="0"/>
              <a:t> </a:t>
            </a:r>
            <a:r>
              <a:rPr spc="-20" dirty="0"/>
              <a:t>such </a:t>
            </a:r>
            <a:r>
              <a:rPr spc="-100" dirty="0"/>
              <a:t>as</a:t>
            </a:r>
            <a:r>
              <a:rPr spc="-280" dirty="0"/>
              <a:t> </a:t>
            </a:r>
            <a:r>
              <a:rPr spc="-195" dirty="0"/>
              <a:t>age,</a:t>
            </a:r>
            <a:r>
              <a:rPr spc="-280" dirty="0"/>
              <a:t> </a:t>
            </a:r>
            <a:r>
              <a:rPr spc="-45" dirty="0"/>
              <a:t>education,</a:t>
            </a:r>
            <a:r>
              <a:rPr spc="-280" dirty="0"/>
              <a:t> </a:t>
            </a:r>
            <a:r>
              <a:rPr spc="-45" dirty="0"/>
              <a:t>and</a:t>
            </a:r>
            <a:r>
              <a:rPr spc="-280" dirty="0"/>
              <a:t> </a:t>
            </a:r>
            <a:r>
              <a:rPr spc="-10" dirty="0"/>
              <a:t>role.</a:t>
            </a:r>
          </a:p>
          <a:p>
            <a:pPr>
              <a:lnSpc>
                <a:spcPct val="100000"/>
              </a:lnSpc>
              <a:spcBef>
                <a:spcPts val="2635"/>
              </a:spcBef>
            </a:pPr>
            <a:endParaRPr spc="-10" dirty="0"/>
          </a:p>
          <a:p>
            <a:pPr marL="12700" marR="5080">
              <a:lnSpc>
                <a:spcPct val="118000"/>
              </a:lnSpc>
            </a:pPr>
            <a:r>
              <a:rPr sz="3250" spc="-55" dirty="0"/>
              <a:t>This</a:t>
            </a:r>
            <a:r>
              <a:rPr sz="3250" spc="-280" dirty="0"/>
              <a:t> </a:t>
            </a:r>
            <a:r>
              <a:rPr sz="3250" spc="-10" dirty="0"/>
              <a:t>approach</a:t>
            </a:r>
            <a:r>
              <a:rPr sz="3250" spc="-275" dirty="0"/>
              <a:t> </a:t>
            </a:r>
            <a:r>
              <a:rPr sz="3250" spc="-25" dirty="0"/>
              <a:t>enables</a:t>
            </a:r>
            <a:r>
              <a:rPr sz="3250" spc="-275" dirty="0"/>
              <a:t> </a:t>
            </a:r>
            <a:r>
              <a:rPr sz="3250" spc="-70" dirty="0"/>
              <a:t>organizations</a:t>
            </a:r>
            <a:r>
              <a:rPr sz="3250" spc="-275" dirty="0"/>
              <a:t> </a:t>
            </a:r>
            <a:r>
              <a:rPr sz="3250" dirty="0"/>
              <a:t>to</a:t>
            </a:r>
            <a:r>
              <a:rPr sz="3250" spc="-275" dirty="0"/>
              <a:t> </a:t>
            </a:r>
            <a:r>
              <a:rPr sz="3250" dirty="0"/>
              <a:t>offer</a:t>
            </a:r>
            <a:r>
              <a:rPr sz="3250" spc="-275" dirty="0"/>
              <a:t> </a:t>
            </a:r>
            <a:r>
              <a:rPr sz="3250" spc="-55" dirty="0"/>
              <a:t>salaries</a:t>
            </a:r>
            <a:r>
              <a:rPr sz="3250" spc="-275" dirty="0"/>
              <a:t> </a:t>
            </a:r>
            <a:r>
              <a:rPr sz="3250" spc="-60" dirty="0"/>
              <a:t>aligned</a:t>
            </a:r>
            <a:r>
              <a:rPr sz="3250" spc="-280" dirty="0"/>
              <a:t> </a:t>
            </a:r>
            <a:r>
              <a:rPr sz="3250" spc="-25" dirty="0"/>
              <a:t>with</a:t>
            </a:r>
            <a:r>
              <a:rPr sz="3250" spc="-275" dirty="0"/>
              <a:t> </a:t>
            </a:r>
            <a:r>
              <a:rPr sz="3250" spc="-110" dirty="0"/>
              <a:t>market</a:t>
            </a:r>
            <a:r>
              <a:rPr sz="3250" spc="-275" dirty="0"/>
              <a:t> </a:t>
            </a:r>
            <a:r>
              <a:rPr sz="3250" spc="-10" dirty="0"/>
              <a:t>expectations </a:t>
            </a:r>
            <a:r>
              <a:rPr sz="3250" spc="-30" dirty="0"/>
              <a:t>and</a:t>
            </a:r>
            <a:r>
              <a:rPr sz="3250" spc="-290" dirty="0"/>
              <a:t> </a:t>
            </a:r>
            <a:r>
              <a:rPr sz="3250" spc="-40" dirty="0"/>
              <a:t>employee</a:t>
            </a:r>
            <a:r>
              <a:rPr sz="3250" spc="-285" dirty="0"/>
              <a:t> </a:t>
            </a:r>
            <a:r>
              <a:rPr sz="3250" spc="-35" dirty="0"/>
              <a:t>capabilities,</a:t>
            </a:r>
            <a:r>
              <a:rPr sz="3250" spc="-290" dirty="0"/>
              <a:t> </a:t>
            </a:r>
            <a:r>
              <a:rPr sz="3250" spc="-40" dirty="0"/>
              <a:t>helping</a:t>
            </a:r>
            <a:r>
              <a:rPr sz="3250" spc="-285" dirty="0"/>
              <a:t> </a:t>
            </a:r>
            <a:r>
              <a:rPr sz="3250" dirty="0"/>
              <a:t>to</a:t>
            </a:r>
            <a:r>
              <a:rPr sz="3250" spc="-285" dirty="0"/>
              <a:t> </a:t>
            </a:r>
            <a:r>
              <a:rPr sz="3250" spc="-20" dirty="0"/>
              <a:t>reduce</a:t>
            </a:r>
            <a:r>
              <a:rPr sz="3250" spc="-290" dirty="0"/>
              <a:t> </a:t>
            </a:r>
            <a:r>
              <a:rPr sz="3250" spc="-35" dirty="0"/>
              <a:t>turnover</a:t>
            </a:r>
            <a:r>
              <a:rPr sz="3250" spc="-285" dirty="0"/>
              <a:t> </a:t>
            </a:r>
            <a:r>
              <a:rPr sz="3250" spc="-30" dirty="0"/>
              <a:t>and</a:t>
            </a:r>
            <a:r>
              <a:rPr sz="3250" spc="-285" dirty="0"/>
              <a:t> </a:t>
            </a:r>
            <a:r>
              <a:rPr sz="3250" spc="-55" dirty="0"/>
              <a:t>improve</a:t>
            </a:r>
            <a:r>
              <a:rPr sz="3250" spc="-290" dirty="0"/>
              <a:t> </a:t>
            </a:r>
            <a:r>
              <a:rPr sz="3250" spc="-10" dirty="0"/>
              <a:t>satisfaction.</a:t>
            </a:r>
            <a:endParaRPr sz="3250"/>
          </a:p>
          <a:p>
            <a:pPr marL="12700" marR="253365">
              <a:lnSpc>
                <a:spcPct val="118000"/>
              </a:lnSpc>
            </a:pPr>
            <a:r>
              <a:rPr sz="3250" spc="-75" dirty="0"/>
              <a:t>Ultimately,</a:t>
            </a:r>
            <a:r>
              <a:rPr sz="3250" spc="-305" dirty="0"/>
              <a:t> </a:t>
            </a:r>
            <a:r>
              <a:rPr sz="3250" spc="-50" dirty="0"/>
              <a:t>implementing</a:t>
            </a:r>
            <a:r>
              <a:rPr sz="3250" spc="-300" dirty="0"/>
              <a:t> </a:t>
            </a:r>
            <a:r>
              <a:rPr sz="3250" dirty="0"/>
              <a:t>such</a:t>
            </a:r>
            <a:r>
              <a:rPr sz="3250" spc="-300" dirty="0"/>
              <a:t> </a:t>
            </a:r>
            <a:r>
              <a:rPr sz="3250" spc="-145" dirty="0"/>
              <a:t>a</a:t>
            </a:r>
            <a:r>
              <a:rPr sz="3250" spc="-300" dirty="0"/>
              <a:t> </a:t>
            </a:r>
            <a:r>
              <a:rPr sz="3250" dirty="0"/>
              <a:t>predictive</a:t>
            </a:r>
            <a:r>
              <a:rPr sz="3250" spc="-300" dirty="0"/>
              <a:t> </a:t>
            </a:r>
            <a:r>
              <a:rPr sz="3250" spc="-65" dirty="0"/>
              <a:t>system</a:t>
            </a:r>
            <a:r>
              <a:rPr sz="3250" spc="-300" dirty="0"/>
              <a:t> </a:t>
            </a:r>
            <a:r>
              <a:rPr sz="3250" spc="-25" dirty="0"/>
              <a:t>can</a:t>
            </a:r>
            <a:r>
              <a:rPr sz="3250" spc="-300" dirty="0"/>
              <a:t> </a:t>
            </a:r>
            <a:r>
              <a:rPr sz="3250" dirty="0"/>
              <a:t>lead</a:t>
            </a:r>
            <a:r>
              <a:rPr sz="3250" spc="-300" dirty="0"/>
              <a:t> </a:t>
            </a:r>
            <a:r>
              <a:rPr sz="3250" dirty="0"/>
              <a:t>to</a:t>
            </a:r>
            <a:r>
              <a:rPr sz="3250" spc="-300" dirty="0"/>
              <a:t> </a:t>
            </a:r>
            <a:r>
              <a:rPr sz="3250" dirty="0"/>
              <a:t>better</a:t>
            </a:r>
            <a:r>
              <a:rPr sz="3250" spc="-300" dirty="0"/>
              <a:t> </a:t>
            </a:r>
            <a:r>
              <a:rPr sz="3250" spc="-50" dirty="0"/>
              <a:t>retention,</a:t>
            </a:r>
            <a:r>
              <a:rPr sz="3250" spc="-300" dirty="0"/>
              <a:t> </a:t>
            </a:r>
            <a:r>
              <a:rPr sz="3250" spc="-20" dirty="0"/>
              <a:t>more </a:t>
            </a:r>
            <a:r>
              <a:rPr sz="3250" spc="-30" dirty="0"/>
              <a:t>motivated</a:t>
            </a:r>
            <a:r>
              <a:rPr sz="3250" spc="-275" dirty="0"/>
              <a:t> </a:t>
            </a:r>
            <a:r>
              <a:rPr sz="3250" spc="-75" dirty="0"/>
              <a:t>employees,</a:t>
            </a:r>
            <a:r>
              <a:rPr sz="3250" spc="-275" dirty="0"/>
              <a:t> </a:t>
            </a:r>
            <a:r>
              <a:rPr sz="3250" spc="-30" dirty="0"/>
              <a:t>and</a:t>
            </a:r>
            <a:r>
              <a:rPr sz="3250" spc="-275" dirty="0"/>
              <a:t> </a:t>
            </a:r>
            <a:r>
              <a:rPr sz="3250" spc="-145" dirty="0"/>
              <a:t>a</a:t>
            </a:r>
            <a:r>
              <a:rPr sz="3250" spc="-275" dirty="0"/>
              <a:t> </a:t>
            </a:r>
            <a:r>
              <a:rPr sz="3250" spc="-55" dirty="0"/>
              <a:t>stronger</a:t>
            </a:r>
            <a:r>
              <a:rPr sz="3250" spc="-275" dirty="0"/>
              <a:t> </a:t>
            </a:r>
            <a:r>
              <a:rPr sz="3250" dirty="0"/>
              <a:t>competitive</a:t>
            </a:r>
            <a:r>
              <a:rPr sz="3250" spc="-270" dirty="0"/>
              <a:t> </a:t>
            </a:r>
            <a:r>
              <a:rPr sz="3250" dirty="0"/>
              <a:t>position</a:t>
            </a:r>
            <a:r>
              <a:rPr sz="3250" spc="-275" dirty="0"/>
              <a:t> </a:t>
            </a:r>
            <a:r>
              <a:rPr sz="3250" dirty="0"/>
              <a:t>for</a:t>
            </a:r>
            <a:r>
              <a:rPr sz="3250" spc="-275" dirty="0"/>
              <a:t> </a:t>
            </a:r>
            <a:r>
              <a:rPr sz="3250" dirty="0"/>
              <a:t>the</a:t>
            </a:r>
            <a:r>
              <a:rPr sz="3250" spc="-275" dirty="0"/>
              <a:t> </a:t>
            </a:r>
            <a:r>
              <a:rPr sz="3250" spc="-10" dirty="0"/>
              <a:t>company.</a:t>
            </a:r>
            <a:endParaRPr sz="32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541895" y="4779645"/>
            <a:ext cx="6643370" cy="11925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4200" b="1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</a:t>
            </a:r>
            <a:r>
              <a:rPr sz="4200" b="1" spc="-12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200" b="1" spc="-25" dirty="0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YOU</a:t>
            </a:r>
            <a:endParaRPr sz="4200">
              <a:latin typeface="Arial" panose="020B0604020202020204"/>
              <a:cs typeface="Arial" panose="020B0604020202020204"/>
            </a:endParaRPr>
          </a:p>
          <a:p>
            <a:pPr marL="2616835">
              <a:lnSpc>
                <a:spcPct val="100000"/>
              </a:lnSpc>
              <a:spcBef>
                <a:spcPts val="235"/>
              </a:spcBef>
            </a:pPr>
            <a:r>
              <a:rPr sz="3000" dirty="0">
                <a:solidFill>
                  <a:srgbClr val="000000"/>
                </a:solidFill>
                <a:latin typeface="Arial MT"/>
                <a:cs typeface="Arial MT"/>
              </a:rPr>
              <a:t>–</a:t>
            </a:r>
            <a:r>
              <a:rPr sz="300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000000"/>
                </a:solidFill>
                <a:latin typeface="Arial MT"/>
                <a:cs typeface="Arial MT"/>
              </a:rPr>
              <a:t>Veera Raghavaiah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Office PowerPoint</Application>
  <PresentationFormat>Custom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Arial MT</vt:lpstr>
      <vt:lpstr>Times New Roman</vt:lpstr>
      <vt:lpstr>Verdana</vt:lpstr>
      <vt:lpstr>Office Theme</vt:lpstr>
      <vt:lpstr>CAPSTONE PROJECT</vt:lpstr>
      <vt:lpstr>OUTLINE</vt:lpstr>
      <vt:lpstr>Problem Statement</vt:lpstr>
      <vt:lpstr>System Approach</vt:lpstr>
      <vt:lpstr>System requirements</vt:lpstr>
      <vt:lpstr>Library required to build the model</vt:lpstr>
      <vt:lpstr>Algorithm &amp; Deployment</vt:lpstr>
      <vt:lpstr>PowerPoint Presentation</vt:lpstr>
      <vt:lpstr>PowerPoint Presentation</vt:lpstr>
      <vt:lpstr>PowerPoint Presentation</vt:lpstr>
      <vt:lpstr>Result After Outliner detection</vt:lpstr>
      <vt:lpstr>PowerPoint Presentation</vt:lpstr>
      <vt:lpstr>PowerPoint Presentation</vt:lpstr>
      <vt:lpstr>Conclusion</vt:lpstr>
      <vt:lpstr>THANK YOU – Veera Raghavaiah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</dc:title>
  <dc:creator>Seshadri Reddy</dc:creator>
  <cp:keywords>DAGtlN4qBng,BAFz60GB_qQ,0</cp:keywords>
  <cp:lastModifiedBy>veera raghavaiah pamarthi</cp:lastModifiedBy>
  <cp:revision>1</cp:revision>
  <dcterms:created xsi:type="dcterms:W3CDTF">2026-02-28T16:05:43Z</dcterms:created>
  <dcterms:modified xsi:type="dcterms:W3CDTF">2026-02-28T16:08:58Z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2025-12-14T05:30:00Z</vt:filetime>
  </property>
  <property fmtid="{D5CDD505-2E9C-101B-9397-08002B2CF9AE}" pid="3" name="Creator">
    <vt:lpwstr>Canva</vt:lpwstr>
  </property>
  <property fmtid="{D5CDD505-2E9C-101B-9397-08002B2CF9AE}" pid="4" name="LastSaved">
    <vt:filetime>2026-02-28T05:30:00Z</vt:filetime>
  </property>
  <property fmtid="{D5CDD505-2E9C-101B-9397-08002B2CF9AE}" pid="5" name="Producer">
    <vt:lpwstr>Canva</vt:lpwstr>
  </property>
  <property fmtid="{D5CDD505-2E9C-101B-9397-08002B2CF9AE}" pid="6" name="ICV">
    <vt:lpwstr>51428EB0C71E4FC59EBCC5D85E5A3CA8_12</vt:lpwstr>
  </property>
  <property fmtid="{D5CDD505-2E9C-101B-9397-08002B2CF9AE}" pid="7" name="KSOProductBuildVer">
    <vt:lpwstr>1033-12.2.0.23196</vt:lpwstr>
  </property>
</Properties>
</file>